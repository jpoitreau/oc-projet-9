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9" r:id="rId4"/>
    <p:sldId id="258" r:id="rId5"/>
    <p:sldId id="259" r:id="rId6"/>
    <p:sldId id="260" r:id="rId7"/>
    <p:sldId id="262" r:id="rId8"/>
    <p:sldId id="261" r:id="rId9"/>
    <p:sldId id="288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736" autoAdjust="0"/>
  </p:normalViewPr>
  <p:slideViewPr>
    <p:cSldViewPr snapToGrid="0">
      <p:cViewPr varScale="1">
        <p:scale>
          <a:sx n="21" d="100"/>
          <a:sy n="21" d="100"/>
        </p:scale>
        <p:origin x="107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Score moyen</c:v>
          </c:tx>
          <c:spPr>
            <a:solidFill>
              <a:srgbClr val="F09415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>
                    <a:solidFill>
                      <a:srgbClr val="FFFFFF"/>
                    </a:solidFill>
                    <a:latin typeface="Eras Light ITC"/>
                    <a:ea typeface="Eras Light ITC"/>
                    <a:cs typeface="Eras Light IT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Fidélité</c:v>
                </c:pt>
                <c:pt idx="1">
                  <c:v>Pertinence</c:v>
                </c:pt>
                <c:pt idx="2">
                  <c:v>Précision contexte</c:v>
                </c:pt>
                <c:pt idx="3">
                  <c:v>Rappel contexte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0.85</c:v>
                </c:pt>
                <c:pt idx="1">
                  <c:v>0.56000000000000005</c:v>
                </c:pt>
                <c:pt idx="2">
                  <c:v>0.76</c:v>
                </c:pt>
                <c:pt idx="3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85-42D3-8B0A-B9D95554DD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63554C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endParaRPr lang="en-US"/>
          </a:p>
        </c:txPr>
        <c:crossAx val="48650112"/>
        <c:crosses val="autoZero"/>
        <c:crossBetween val="between"/>
        <c:majorUnit val="0.25"/>
      </c:valAx>
      <c:spPr>
        <a:solidFill>
          <a:srgbClr val="24211F"/>
        </a:solidFill>
      </c:spPr>
    </c:plotArea>
    <c:plotVisOnly val="1"/>
    <c:dispBlanksAs val="zero"/>
    <c:showDLblsOverMax val="1"/>
  </c:chart>
  <c:spPr>
    <a:solidFill>
      <a:srgbClr val="24211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20 </a:t>
            </a:r>
            <a:r>
              <a:rPr dirty="0" err="1"/>
              <a:t>secondes</a:t>
            </a:r>
            <a:r>
              <a:rPr dirty="0"/>
              <a:t>. </a:t>
            </a:r>
            <a:r>
              <a:rPr dirty="0" err="1"/>
              <a:t>Présenter</a:t>
            </a:r>
            <a:r>
              <a:rPr dirty="0"/>
              <a:t> le </a:t>
            </a:r>
            <a:r>
              <a:rPr dirty="0" err="1"/>
              <a:t>rôle</a:t>
            </a:r>
            <a:r>
              <a:rPr dirty="0"/>
              <a:t> de data scientist freelance pour Puls-Events. </a:t>
            </a:r>
            <a:r>
              <a:rPr dirty="0" err="1"/>
              <a:t>Annoncer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présentation</a:t>
            </a:r>
            <a:r>
              <a:rPr dirty="0"/>
              <a:t> du prototype,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démonstration</a:t>
            </a:r>
            <a:r>
              <a:rPr dirty="0"/>
              <a:t> de trois minutes et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analyse</a:t>
            </a:r>
            <a:r>
              <a:rPr dirty="0"/>
              <a:t> des </a:t>
            </a:r>
            <a:r>
              <a:rPr dirty="0" err="1"/>
              <a:t>résultats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</a:t>
            </a:r>
            <a:r>
              <a:rPr lang="fr-FR" dirty="0"/>
              <a:t>20</a:t>
            </a:r>
            <a:r>
              <a:rPr dirty="0"/>
              <a:t>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lang="fr-FR" dirty="0"/>
              <a:t>Présenter le plan de la présentation en 4 points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5061-E4DB-A7E8-E4C6-855F21BB3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CC495-301B-BF19-5D6B-450EEE75F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B41AC-6EAC-DE0A-628E-35B22E0BE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50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 err="1"/>
              <a:t>Expliquer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utilisateurs</a:t>
            </a:r>
            <a:r>
              <a:rPr dirty="0"/>
              <a:t> </a:t>
            </a:r>
            <a:r>
              <a:rPr dirty="0" err="1"/>
              <a:t>formulent</a:t>
            </a:r>
            <a:r>
              <a:rPr dirty="0"/>
              <a:t> </a:t>
            </a:r>
            <a:r>
              <a:rPr dirty="0" err="1"/>
              <a:t>leurs</a:t>
            </a:r>
            <a:r>
              <a:rPr dirty="0"/>
              <a:t> </a:t>
            </a:r>
            <a:r>
              <a:rPr dirty="0" err="1"/>
              <a:t>besoins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langage</a:t>
            </a:r>
            <a:r>
              <a:rPr dirty="0"/>
              <a:t> naturel. Un LLM seul ne dispose pas de </a:t>
            </a:r>
            <a:r>
              <a:rPr dirty="0" err="1"/>
              <a:t>l’agenda</a:t>
            </a:r>
            <a:r>
              <a:rPr dirty="0"/>
              <a:t> local. Le POC doit </a:t>
            </a:r>
            <a:r>
              <a:rPr dirty="0" err="1"/>
              <a:t>fournir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réponse</a:t>
            </a:r>
            <a:r>
              <a:rPr dirty="0"/>
              <a:t> </a:t>
            </a:r>
            <a:r>
              <a:rPr dirty="0" err="1"/>
              <a:t>fondée</a:t>
            </a:r>
            <a:r>
              <a:rPr dirty="0"/>
              <a:t> sur les </a:t>
            </a:r>
            <a:r>
              <a:rPr dirty="0" err="1"/>
              <a:t>événements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. Le </a:t>
            </a:r>
            <a:r>
              <a:rPr dirty="0" err="1"/>
              <a:t>périmètre</a:t>
            </a:r>
            <a:r>
              <a:rPr dirty="0"/>
              <a:t> </a:t>
            </a:r>
            <a:r>
              <a:rPr dirty="0" err="1"/>
              <a:t>actuel</a:t>
            </a:r>
            <a:r>
              <a:rPr dirty="0"/>
              <a:t> </a:t>
            </a:r>
            <a:r>
              <a:rPr dirty="0" err="1"/>
              <a:t>inclut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des </a:t>
            </a:r>
            <a:r>
              <a:rPr dirty="0" err="1"/>
              <a:t>événements</a:t>
            </a:r>
            <a:r>
              <a:rPr dirty="0"/>
              <a:t> </a:t>
            </a:r>
            <a:r>
              <a:rPr dirty="0" err="1"/>
              <a:t>emploi</a:t>
            </a:r>
            <a:r>
              <a:rPr dirty="0"/>
              <a:t> et formation, au-</a:t>
            </a:r>
            <a:r>
              <a:rPr dirty="0" err="1"/>
              <a:t>delà</a:t>
            </a:r>
            <a:r>
              <a:rPr dirty="0"/>
              <a:t> du seul </a:t>
            </a:r>
            <a:r>
              <a:rPr dirty="0" err="1"/>
              <a:t>culturel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7D1A9-18AE-63A5-DA55-2ABD32A805D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771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40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/>
              <a:t>Le RAG recherche </a:t>
            </a:r>
            <a:r>
              <a:rPr dirty="0" err="1"/>
              <a:t>d’abord</a:t>
            </a:r>
            <a:r>
              <a:rPr dirty="0"/>
              <a:t> des </a:t>
            </a:r>
            <a:r>
              <a:rPr dirty="0" err="1"/>
              <a:t>informations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base </a:t>
            </a:r>
            <a:r>
              <a:rPr dirty="0" err="1"/>
              <a:t>maîtrisée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les </a:t>
            </a:r>
            <a:r>
              <a:rPr dirty="0" err="1"/>
              <a:t>fournit</a:t>
            </a:r>
            <a:r>
              <a:rPr dirty="0"/>
              <a:t> au </a:t>
            </a:r>
            <a:r>
              <a:rPr dirty="0" err="1"/>
              <a:t>modèle</a:t>
            </a:r>
            <a:r>
              <a:rPr dirty="0"/>
              <a:t> pour </a:t>
            </a:r>
            <a:r>
              <a:rPr dirty="0" err="1"/>
              <a:t>produire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réponse</a:t>
            </a:r>
            <a:r>
              <a:rPr dirty="0"/>
              <a:t>. Le prompt </a:t>
            </a:r>
            <a:r>
              <a:rPr dirty="0" err="1"/>
              <a:t>demande</a:t>
            </a:r>
            <a:r>
              <a:rPr dirty="0"/>
              <a:t> de signaler les </a:t>
            </a:r>
            <a:r>
              <a:rPr dirty="0" err="1"/>
              <a:t>informations</a:t>
            </a:r>
            <a:r>
              <a:rPr dirty="0"/>
              <a:t> </a:t>
            </a:r>
            <a:r>
              <a:rPr dirty="0" err="1"/>
              <a:t>manquantes</a:t>
            </a:r>
            <a:r>
              <a:rPr dirty="0"/>
              <a:t>. Cela </a:t>
            </a:r>
            <a:r>
              <a:rPr dirty="0" err="1"/>
              <a:t>réduit</a:t>
            </a:r>
            <a:r>
              <a:rPr dirty="0"/>
              <a:t> le </a:t>
            </a:r>
            <a:r>
              <a:rPr dirty="0" err="1"/>
              <a:t>risque</a:t>
            </a:r>
            <a:r>
              <a:rPr dirty="0"/>
              <a:t> </a:t>
            </a:r>
            <a:r>
              <a:rPr dirty="0" err="1"/>
              <a:t>d’invention</a:t>
            </a:r>
            <a:r>
              <a:rPr dirty="0"/>
              <a:t> sans le </a:t>
            </a:r>
            <a:r>
              <a:rPr dirty="0" err="1"/>
              <a:t>supprimer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45 </a:t>
            </a:r>
            <a:r>
              <a:rPr dirty="0" err="1"/>
              <a:t>secondes</a:t>
            </a:r>
            <a:r>
              <a:rPr dirty="0"/>
              <a:t>.</a:t>
            </a:r>
            <a:br>
              <a:rPr lang="fr-FR" dirty="0"/>
            </a:br>
            <a:br>
              <a:rPr lang="fr-FR" dirty="0"/>
            </a:br>
            <a:r>
              <a:rPr lang="fr-FR" dirty="0"/>
              <a:t>Données extraites d’open agenda, filtrées sur le périmètre de la ville de Toulouse pour l’année 2025-2026.</a:t>
            </a:r>
          </a:p>
          <a:p>
            <a:r>
              <a:rPr lang="fr-FR" dirty="0"/>
              <a:t> 4 903 événements indexés, 57 colonnes métier, enregistrées sous la forme d’un csv local actuellement non versionné.</a:t>
            </a:r>
            <a:br>
              <a:rPr lang="fr-FR" dirty="0"/>
            </a:b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Le README annonce et Toulouse comme périmètre. Le dépôt utilise un export CSV local. Les données brutes ne sont pas versionnées. L’export couvre 2025–2026, sans filtre temporel appliqué à la requête. Ne pas présenter cet export comme un flux automatiquement actualisé.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60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 err="1"/>
              <a:t>Décrire</a:t>
            </a:r>
            <a:r>
              <a:rPr dirty="0"/>
              <a:t> le </a:t>
            </a:r>
            <a:r>
              <a:rPr dirty="0" err="1"/>
              <a:t>rejet</a:t>
            </a:r>
            <a:r>
              <a:rPr dirty="0"/>
              <a:t> des descriptions </a:t>
            </a:r>
            <a:r>
              <a:rPr dirty="0" err="1"/>
              <a:t>manquantes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réduites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URL, un e-mail </a:t>
            </a:r>
            <a:r>
              <a:rPr dirty="0" err="1"/>
              <a:t>ou</a:t>
            </a:r>
            <a:r>
              <a:rPr dirty="0"/>
              <a:t> un </a:t>
            </a:r>
            <a:r>
              <a:rPr dirty="0" err="1"/>
              <a:t>nombre</a:t>
            </a:r>
            <a:r>
              <a:rPr dirty="0"/>
              <a:t>. Le </a:t>
            </a:r>
            <a:r>
              <a:rPr dirty="0" err="1"/>
              <a:t>nettoyage</a:t>
            </a:r>
            <a:r>
              <a:rPr dirty="0"/>
              <a:t> </a:t>
            </a:r>
            <a:r>
              <a:rPr dirty="0" err="1"/>
              <a:t>normalise</a:t>
            </a:r>
            <a:r>
              <a:rPr dirty="0"/>
              <a:t> la </a:t>
            </a:r>
            <a:r>
              <a:rPr dirty="0" err="1"/>
              <a:t>casse</a:t>
            </a:r>
            <a:r>
              <a:rPr dirty="0"/>
              <a:t> et la </a:t>
            </a:r>
            <a:r>
              <a:rPr dirty="0" err="1"/>
              <a:t>ponctuation</a:t>
            </a:r>
            <a:r>
              <a:rPr dirty="0"/>
              <a:t>. Un </a:t>
            </a:r>
            <a:r>
              <a:rPr dirty="0" err="1"/>
              <a:t>vecteur</a:t>
            </a:r>
            <a:r>
              <a:rPr dirty="0"/>
              <a:t> est </a:t>
            </a:r>
            <a:r>
              <a:rPr dirty="0" err="1"/>
              <a:t>créé</a:t>
            </a:r>
            <a:r>
              <a:rPr dirty="0"/>
              <a:t> par </a:t>
            </a:r>
            <a:r>
              <a:rPr dirty="0" err="1"/>
              <a:t>événement</a:t>
            </a:r>
            <a:r>
              <a:rPr dirty="0"/>
              <a:t>. Le chunking est disponible et </a:t>
            </a:r>
            <a:r>
              <a:rPr dirty="0" err="1"/>
              <a:t>testé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non </a:t>
            </a:r>
            <a:r>
              <a:rPr dirty="0" err="1"/>
              <a:t>activé</a:t>
            </a:r>
            <a:r>
              <a:rPr dirty="0"/>
              <a:t> : les descriptions </a:t>
            </a:r>
            <a:r>
              <a:rPr dirty="0" err="1"/>
              <a:t>courtes</a:t>
            </a:r>
            <a:r>
              <a:rPr dirty="0"/>
              <a:t> ne </a:t>
            </a:r>
            <a:r>
              <a:rPr dirty="0" err="1"/>
              <a:t>dépassent</a:t>
            </a:r>
            <a:r>
              <a:rPr dirty="0"/>
              <a:t> pas 200 </a:t>
            </a:r>
            <a:r>
              <a:rPr dirty="0" err="1"/>
              <a:t>caractères</a:t>
            </a:r>
            <a:r>
              <a:rPr dirty="0"/>
              <a:t>. La reconstruction </a:t>
            </a:r>
            <a:r>
              <a:rPr dirty="0" err="1"/>
              <a:t>nécessite</a:t>
            </a:r>
            <a:r>
              <a:rPr dirty="0"/>
              <a:t> le CSV brut et la </a:t>
            </a:r>
            <a:r>
              <a:rPr dirty="0" err="1"/>
              <a:t>clé</a:t>
            </a:r>
            <a:r>
              <a:rPr dirty="0"/>
              <a:t> OpenAI.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Durée cible : 55 secondes.</a:t>
            </a:r>
          </a:p>
          <a:p>
            <a:r>
              <a:t>Le choix d’OpenAI en remplacement de Mistral a été validé avec le mentor, selon la confirmation du porteur de projet le 15/10/2026. Le README motive GPT-4o-mini par le coût, le français et l’intégration LangChain. Ne pas prétendre à un benchmark comparatif de modèles. L’historique conserve au maximum cinq messages récents et filtre les messages système entrants.</a:t>
            </a:r>
          </a:p>
          <a:p>
            <a:endParaRPr/>
          </a:p>
          <a:p>
            <a:r>
              <a:t>Sources : https://github.com/JPoitreau/oc-projet-9/blob/master/README.md ; code sur la branche master consulté le 15/10/2026. Résultats enregistrés, sans nouvelle exécution.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60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lang="fr-FR" dirty="0"/>
              <a:t>Côté API, le navigateur utilise Swagger pour envoyer une requête HTTP. </a:t>
            </a:r>
            <a:r>
              <a:rPr dirty="0"/>
              <a:t>L’API </a:t>
            </a:r>
            <a:r>
              <a:rPr lang="fr-FR" dirty="0"/>
              <a:t>conteneurisée avec docker </a:t>
            </a:r>
            <a:r>
              <a:rPr dirty="0"/>
              <a:t>charge </a:t>
            </a:r>
            <a:r>
              <a:rPr dirty="0" err="1"/>
              <a:t>l’index</a:t>
            </a:r>
            <a:r>
              <a:rPr dirty="0"/>
              <a:t> et les </a:t>
            </a:r>
            <a:r>
              <a:rPr dirty="0" err="1"/>
              <a:t>métadonnées</a:t>
            </a:r>
            <a:r>
              <a:rPr dirty="0"/>
              <a:t>, </a:t>
            </a:r>
            <a:r>
              <a:rPr dirty="0" err="1"/>
              <a:t>construit</a:t>
            </a:r>
            <a:r>
              <a:rPr dirty="0"/>
              <a:t> le </a:t>
            </a:r>
            <a:r>
              <a:rPr dirty="0" err="1"/>
              <a:t>contexte</a:t>
            </a:r>
            <a:r>
              <a:rPr dirty="0"/>
              <a:t> </a:t>
            </a:r>
            <a:r>
              <a:rPr lang="fr-FR" dirty="0"/>
              <a:t>puis</a:t>
            </a:r>
            <a:r>
              <a:rPr dirty="0"/>
              <a:t> </a:t>
            </a:r>
            <a:r>
              <a:rPr dirty="0" err="1"/>
              <a:t>appel</a:t>
            </a:r>
            <a:r>
              <a:rPr lang="fr-FR" dirty="0"/>
              <a:t>le</a:t>
            </a:r>
            <a:r>
              <a:rPr dirty="0"/>
              <a:t> OpenAI</a:t>
            </a:r>
            <a:r>
              <a:rPr lang="fr-FR" dirty="0"/>
              <a:t>. L’appel distant à l’API </a:t>
            </a:r>
            <a:r>
              <a:rPr lang="fr-FR" dirty="0" err="1"/>
              <a:t>OpenAI</a:t>
            </a:r>
            <a:r>
              <a:rPr lang="fr-FR" dirty="0"/>
              <a:t> est utilisé pour la création des </a:t>
            </a:r>
            <a:r>
              <a:rPr lang="fr-FR" dirty="0" err="1"/>
              <a:t>embeddings</a:t>
            </a:r>
            <a:r>
              <a:rPr lang="fr-FR" dirty="0"/>
              <a:t> et la génération des réponses du LLM</a:t>
            </a:r>
            <a:r>
              <a:rPr dirty="0"/>
              <a:t>. </a:t>
            </a:r>
            <a:endParaRPr lang="fr-FR" dirty="0"/>
          </a:p>
          <a:p>
            <a:r>
              <a:rPr lang="fr-FR" dirty="0"/>
              <a:t>L’interface </a:t>
            </a:r>
            <a:r>
              <a:rPr dirty="0" err="1"/>
              <a:t>Streamlit</a:t>
            </a:r>
            <a:r>
              <a:rPr lang="fr-FR" dirty="0"/>
              <a:t> qui a été implémentée</a:t>
            </a:r>
            <a:r>
              <a:rPr dirty="0"/>
              <a:t> </a:t>
            </a:r>
            <a:r>
              <a:rPr dirty="0" err="1"/>
              <a:t>fonctionne</a:t>
            </a:r>
            <a:r>
              <a:rPr dirty="0"/>
              <a:t> </a:t>
            </a:r>
            <a:r>
              <a:rPr dirty="0" err="1"/>
              <a:t>séparément</a:t>
            </a:r>
            <a:r>
              <a:rPr dirty="0"/>
              <a:t> et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propre </a:t>
            </a:r>
            <a:r>
              <a:rPr dirty="0" err="1"/>
              <a:t>logique</a:t>
            </a:r>
            <a:r>
              <a:rPr dirty="0"/>
              <a:t> RAG, sans passer par </a:t>
            </a:r>
            <a:r>
              <a:rPr dirty="0" err="1"/>
              <a:t>FastAPI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1A03-61D4-A3A3-171A-DBCC594B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D5E31-8353-1A41-FA64-FFE577895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D200F-616B-949D-BD28-2AD392049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Durée cible : 3 minutes secondes.</a:t>
            </a:r>
          </a:p>
          <a:p>
            <a:r>
              <a:rPr lang="fr-FR" dirty="0"/>
              <a:t>Avant la présentation, démarrer Docker et ouvrir http://localhost:7860/docs</a:t>
            </a:r>
          </a:p>
          <a:p>
            <a:r>
              <a:rPr lang="fr-FR" dirty="0"/>
              <a:t>L’API renvoie actuellement une chaîne JSON contenant la réponse, sans liste de sources structurée. La validation </a:t>
            </a:r>
            <a:r>
              <a:rPr lang="fr-FR" dirty="0" err="1"/>
              <a:t>Pydantic</a:t>
            </a:r>
            <a:r>
              <a:rPr lang="fr-FR" dirty="0"/>
              <a:t> rejette les questions vides avec 422. L’absence d’index produit 503. /</a:t>
            </a:r>
            <a:r>
              <a:rPr lang="fr-FR" dirty="0" err="1"/>
              <a:t>rebuild</a:t>
            </a:r>
            <a:r>
              <a:rPr lang="fr-FR" dirty="0"/>
              <a:t> est une route GET et dépend du CSV brut non versionné. Préparation hors chronomètre : docker </a:t>
            </a:r>
            <a:r>
              <a:rPr lang="fr-FR" dirty="0" err="1"/>
              <a:t>build</a:t>
            </a:r>
            <a:r>
              <a:rPr lang="fr-FR" dirty="0"/>
              <a:t> -t </a:t>
            </a:r>
            <a:r>
              <a:rPr lang="fr-FR" dirty="0" err="1"/>
              <a:t>puls</a:t>
            </a:r>
            <a:r>
              <a:rPr lang="fr-FR" dirty="0"/>
              <a:t>-</a:t>
            </a:r>
            <a:r>
              <a:rPr lang="fr-FR" dirty="0" err="1"/>
              <a:t>events</a:t>
            </a:r>
            <a:r>
              <a:rPr lang="fr-FR" dirty="0"/>
              <a:t>-rag . puis docker run --</a:t>
            </a:r>
            <a:r>
              <a:rPr lang="fr-FR" dirty="0" err="1"/>
              <a:t>rm</a:t>
            </a:r>
            <a:r>
              <a:rPr lang="fr-FR" dirty="0"/>
              <a:t> --</a:t>
            </a:r>
            <a:r>
              <a:rPr lang="fr-FR" dirty="0" err="1"/>
              <a:t>env</a:t>
            </a:r>
            <a:r>
              <a:rPr lang="fr-FR" dirty="0"/>
              <a:t>-file .</a:t>
            </a:r>
            <a:r>
              <a:rPr lang="fr-FR" dirty="0" err="1"/>
              <a:t>env</a:t>
            </a:r>
            <a:r>
              <a:rPr lang="fr-FR" dirty="0"/>
              <a:t> -p 7860:7860 </a:t>
            </a:r>
            <a:r>
              <a:rPr lang="fr-FR" dirty="0" err="1"/>
              <a:t>puls</a:t>
            </a:r>
            <a:r>
              <a:rPr lang="fr-FR" dirty="0"/>
              <a:t>-</a:t>
            </a:r>
            <a:r>
              <a:rPr lang="fr-FR" dirty="0" err="1"/>
              <a:t>events</a:t>
            </a:r>
            <a:r>
              <a:rPr lang="fr-FR" dirty="0"/>
              <a:t>-rag. Ne pas afficher le contenu du fichier .env. L’utilisateur confirme avoir testé l’API sous Docker et </a:t>
            </a:r>
            <a:r>
              <a:rPr lang="fr-FR" dirty="0" err="1"/>
              <a:t>Streamlit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9FF1B-81ED-881A-E879-A4806FBD6CE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9613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60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 err="1"/>
              <a:t>Distinguer</a:t>
            </a:r>
            <a:r>
              <a:rPr dirty="0"/>
              <a:t> les deux démarches. Les tests </a:t>
            </a:r>
            <a:r>
              <a:rPr dirty="0" err="1"/>
              <a:t>pytest</a:t>
            </a:r>
            <a:r>
              <a:rPr dirty="0"/>
              <a:t> </a:t>
            </a:r>
            <a:r>
              <a:rPr dirty="0" err="1"/>
              <a:t>simulent</a:t>
            </a:r>
            <a:r>
              <a:rPr dirty="0"/>
              <a:t> les embeddings et le LLM, </a:t>
            </a:r>
            <a:r>
              <a:rPr dirty="0" err="1"/>
              <a:t>donc</a:t>
            </a:r>
            <a:r>
              <a:rPr dirty="0"/>
              <a:t> ne </a:t>
            </a:r>
            <a:r>
              <a:rPr dirty="0" err="1"/>
              <a:t>mesurent</a:t>
            </a:r>
            <a:r>
              <a:rPr dirty="0"/>
              <a:t> pas la pertinence </a:t>
            </a:r>
            <a:r>
              <a:rPr dirty="0" err="1"/>
              <a:t>réelle</a:t>
            </a:r>
            <a:r>
              <a:rPr dirty="0"/>
              <a:t>. La CI lance Ruff et </a:t>
            </a:r>
            <a:r>
              <a:rPr dirty="0" err="1"/>
              <a:t>pytest</a:t>
            </a:r>
            <a:r>
              <a:rPr dirty="0"/>
              <a:t> avec un </a:t>
            </a:r>
            <a:r>
              <a:rPr dirty="0" err="1"/>
              <a:t>seuil</a:t>
            </a:r>
            <a:r>
              <a:rPr dirty="0"/>
              <a:t> </a:t>
            </a:r>
            <a:r>
              <a:rPr dirty="0" err="1"/>
              <a:t>configuré</a:t>
            </a:r>
            <a:r>
              <a:rPr dirty="0"/>
              <a:t> à 90 %,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n’est</a:t>
            </a:r>
            <a:r>
              <a:rPr dirty="0"/>
              <a:t> pas </a:t>
            </a:r>
            <a:r>
              <a:rPr dirty="0" err="1"/>
              <a:t>une</a:t>
            </a:r>
            <a:r>
              <a:rPr dirty="0"/>
              <a:t> couverture </a:t>
            </a:r>
            <a:r>
              <a:rPr dirty="0" err="1"/>
              <a:t>effectivement</a:t>
            </a:r>
            <a:r>
              <a:rPr dirty="0"/>
              <a:t> </a:t>
            </a:r>
            <a:r>
              <a:rPr dirty="0" err="1"/>
              <a:t>vérifiée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. Elle </a:t>
            </a:r>
            <a:r>
              <a:rPr dirty="0" err="1"/>
              <a:t>cible</a:t>
            </a:r>
            <a:r>
              <a:rPr dirty="0"/>
              <a:t> les PR main/dev, pas master. Ragas est </a:t>
            </a:r>
            <a:r>
              <a:rPr dirty="0" err="1"/>
              <a:t>exécuté</a:t>
            </a:r>
            <a:r>
              <a:rPr dirty="0"/>
              <a:t> dans un notebook sur les </a:t>
            </a:r>
            <a:r>
              <a:rPr dirty="0" err="1"/>
              <a:t>réponses</a:t>
            </a:r>
            <a:r>
              <a:rPr dirty="0"/>
              <a:t> mises </a:t>
            </a:r>
            <a:r>
              <a:rPr dirty="0" err="1"/>
              <a:t>en</a:t>
            </a:r>
            <a:r>
              <a:rPr dirty="0"/>
              <a:t> cache, il </a:t>
            </a:r>
            <a:r>
              <a:rPr dirty="0" err="1"/>
              <a:t>n’est</a:t>
            </a:r>
            <a:r>
              <a:rPr dirty="0"/>
              <a:t> pas </a:t>
            </a:r>
            <a:r>
              <a:rPr dirty="0" err="1"/>
              <a:t>intégré</a:t>
            </a:r>
            <a:r>
              <a:rPr dirty="0"/>
              <a:t> à la CI. Le </a:t>
            </a:r>
            <a:r>
              <a:rPr dirty="0" err="1"/>
              <a:t>juge</a:t>
            </a:r>
            <a:r>
              <a:rPr dirty="0"/>
              <a:t> </a:t>
            </a:r>
            <a:r>
              <a:rPr dirty="0" err="1"/>
              <a:t>utilise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génération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qui </a:t>
            </a:r>
            <a:r>
              <a:rPr dirty="0" err="1"/>
              <a:t>constitue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limite</a:t>
            </a:r>
            <a:r>
              <a:rPr dirty="0"/>
              <a:t>.</a:t>
            </a:r>
            <a:endParaRPr lang="fr-FR" dirty="0"/>
          </a:p>
          <a:p>
            <a:endParaRPr lang="fr-FR" dirty="0"/>
          </a:p>
          <a:p>
            <a:r>
              <a:rPr lang="fr-FR" dirty="0"/>
              <a:t>Mettre l’emphase sur Ragas plutôt que sur le CI automatique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70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 err="1"/>
              <a:t>Résultats</a:t>
            </a:r>
            <a:r>
              <a:rPr dirty="0"/>
              <a:t> </a:t>
            </a:r>
            <a:r>
              <a:rPr dirty="0" err="1"/>
              <a:t>enregistrés</a:t>
            </a:r>
            <a:r>
              <a:rPr dirty="0"/>
              <a:t> dans le notebook, run du 12/10/2026. Valeurs </a:t>
            </a:r>
            <a:r>
              <a:rPr dirty="0" err="1"/>
              <a:t>exactes</a:t>
            </a:r>
            <a:r>
              <a:rPr dirty="0"/>
              <a:t> : </a:t>
            </a:r>
            <a:r>
              <a:rPr dirty="0" err="1"/>
              <a:t>fidélité</a:t>
            </a:r>
            <a:r>
              <a:rPr dirty="0"/>
              <a:t> 0,846429 ; pertinence 0,556256 ; </a:t>
            </a:r>
            <a:r>
              <a:rPr dirty="0" err="1"/>
              <a:t>précision</a:t>
            </a:r>
            <a:r>
              <a:rPr dirty="0"/>
              <a:t> du </a:t>
            </a:r>
            <a:r>
              <a:rPr dirty="0" err="1"/>
              <a:t>contexte</a:t>
            </a:r>
            <a:r>
              <a:rPr dirty="0"/>
              <a:t> 0,761905 ; rappel du </a:t>
            </a:r>
            <a:r>
              <a:rPr dirty="0" err="1"/>
              <a:t>contexte</a:t>
            </a:r>
            <a:r>
              <a:rPr dirty="0"/>
              <a:t> 0,428571. Le </a:t>
            </a:r>
            <a:r>
              <a:rPr dirty="0" err="1"/>
              <a:t>taux</a:t>
            </a:r>
            <a:r>
              <a:rPr dirty="0"/>
              <a:t> acceptable est un </a:t>
            </a:r>
            <a:r>
              <a:rPr dirty="0" err="1"/>
              <a:t>indicateur</a:t>
            </a:r>
            <a:r>
              <a:rPr dirty="0"/>
              <a:t> maison : </a:t>
            </a:r>
            <a:r>
              <a:rPr dirty="0" err="1"/>
              <a:t>fidélité</a:t>
            </a:r>
            <a:r>
              <a:rPr dirty="0"/>
              <a:t> et pertinence &gt;= 0,7. Q01 </a:t>
            </a:r>
            <a:r>
              <a:rPr dirty="0" err="1"/>
              <a:t>vaut</a:t>
            </a:r>
            <a:r>
              <a:rPr dirty="0"/>
              <a:t> 0,698028 </a:t>
            </a:r>
            <a:r>
              <a:rPr dirty="0" err="1"/>
              <a:t>en</a:t>
            </a:r>
            <a:r>
              <a:rPr dirty="0"/>
              <a:t> pertinence,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/>
              <a:t>échoue</a:t>
            </a:r>
            <a:r>
              <a:rPr dirty="0"/>
              <a:t> malgré </a:t>
            </a:r>
            <a:r>
              <a:rPr dirty="0" err="1"/>
              <a:t>l’arrondi</a:t>
            </a:r>
            <a:r>
              <a:rPr dirty="0"/>
              <a:t> à 0,70. Trois </a:t>
            </a:r>
            <a:r>
              <a:rPr dirty="0" err="1"/>
              <a:t>réponses</a:t>
            </a:r>
            <a:r>
              <a:rPr dirty="0"/>
              <a:t> sur sept </a:t>
            </a:r>
            <a:r>
              <a:rPr dirty="0" err="1"/>
              <a:t>satisfont</a:t>
            </a:r>
            <a:r>
              <a:rPr dirty="0"/>
              <a:t> le </a:t>
            </a:r>
            <a:r>
              <a:rPr dirty="0" err="1"/>
              <a:t>critère</a:t>
            </a:r>
            <a:r>
              <a:rPr dirty="0"/>
              <a:t>, soit 42,9 %. </a:t>
            </a:r>
            <a:r>
              <a:rPr dirty="0" err="1"/>
              <a:t>Ces</a:t>
            </a:r>
            <a:r>
              <a:rPr dirty="0"/>
              <a:t> scores ne constituent pas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précision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 sur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utilisateurs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60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 err="1"/>
              <a:t>Exemples</a:t>
            </a:r>
            <a:r>
              <a:rPr dirty="0"/>
              <a:t> </a:t>
            </a:r>
            <a:r>
              <a:rPr dirty="0" err="1"/>
              <a:t>issus</a:t>
            </a:r>
            <a:r>
              <a:rPr dirty="0"/>
              <a:t> du JSON de </a:t>
            </a:r>
            <a:r>
              <a:rPr dirty="0" err="1"/>
              <a:t>prédictions</a:t>
            </a:r>
            <a:r>
              <a:rPr dirty="0"/>
              <a:t> et du notebook Ragas. KIWI : </a:t>
            </a:r>
            <a:r>
              <a:rPr dirty="0" err="1"/>
              <a:t>réponse</a:t>
            </a:r>
            <a:r>
              <a:rPr dirty="0"/>
              <a:t> </a:t>
            </a:r>
            <a:r>
              <a:rPr dirty="0" err="1"/>
              <a:t>enregistrée</a:t>
            </a:r>
            <a:r>
              <a:rPr dirty="0"/>
              <a:t> le </a:t>
            </a:r>
            <a:r>
              <a:rPr dirty="0" err="1"/>
              <a:t>jeudi</a:t>
            </a:r>
            <a:r>
              <a:rPr dirty="0"/>
              <a:t> 25 </a:t>
            </a:r>
            <a:r>
              <a:rPr dirty="0" err="1"/>
              <a:t>septembre</a:t>
            </a:r>
            <a:r>
              <a:rPr dirty="0"/>
              <a:t> 2025 de 9 h à 12 h à </a:t>
            </a:r>
            <a:r>
              <a:rPr dirty="0" err="1"/>
              <a:t>Borderouge</a:t>
            </a:r>
            <a:r>
              <a:rPr dirty="0"/>
              <a:t>, avec </a:t>
            </a:r>
            <a:r>
              <a:rPr dirty="0" err="1"/>
              <a:t>fidélité</a:t>
            </a:r>
            <a:r>
              <a:rPr dirty="0"/>
              <a:t> et rappel à 1. YES : le </a:t>
            </a:r>
            <a:r>
              <a:rPr dirty="0" err="1"/>
              <a:t>système</a:t>
            </a:r>
            <a:r>
              <a:rPr dirty="0"/>
              <a:t> ne </a:t>
            </a:r>
            <a:r>
              <a:rPr dirty="0" err="1"/>
              <a:t>retrouve</a:t>
            </a:r>
            <a:r>
              <a:rPr dirty="0"/>
              <a:t> pas </a:t>
            </a:r>
            <a:r>
              <a:rPr dirty="0" err="1"/>
              <a:t>l’événement</a:t>
            </a:r>
            <a:r>
              <a:rPr dirty="0"/>
              <a:t> </a:t>
            </a:r>
            <a:r>
              <a:rPr dirty="0" err="1"/>
              <a:t>demandé</a:t>
            </a:r>
            <a:r>
              <a:rPr dirty="0"/>
              <a:t> dans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contextes</a:t>
            </a:r>
            <a:r>
              <a:rPr dirty="0"/>
              <a:t> et </a:t>
            </a:r>
            <a:r>
              <a:rPr dirty="0" err="1"/>
              <a:t>indique</a:t>
            </a:r>
            <a:r>
              <a:rPr dirty="0"/>
              <a:t> ne pas disposer de </a:t>
            </a:r>
            <a:r>
              <a:rPr dirty="0" err="1"/>
              <a:t>l’information</a:t>
            </a:r>
            <a:r>
              <a:rPr dirty="0"/>
              <a:t>. Attention : </a:t>
            </a:r>
            <a:r>
              <a:rPr dirty="0" err="1"/>
              <a:t>cela</a:t>
            </a:r>
            <a:r>
              <a:rPr dirty="0"/>
              <a:t> ne </a:t>
            </a:r>
            <a:r>
              <a:rPr dirty="0" err="1"/>
              <a:t>prouve</a:t>
            </a:r>
            <a:r>
              <a:rPr dirty="0"/>
              <a:t> pas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l’événement</a:t>
            </a:r>
            <a:r>
              <a:rPr dirty="0"/>
              <a:t> est absent de la base. Une question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échouer</a:t>
            </a:r>
            <a:r>
              <a:rPr dirty="0"/>
              <a:t> au retrieval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la donnée </a:t>
            </a:r>
            <a:r>
              <a:rPr dirty="0" err="1"/>
              <a:t>existe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60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/>
              <a:t>La première </a:t>
            </a:r>
            <a:r>
              <a:rPr dirty="0" err="1"/>
              <a:t>priorité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sur le retrieval : </a:t>
            </a:r>
            <a:r>
              <a:rPr dirty="0" err="1"/>
              <a:t>enrichir</a:t>
            </a:r>
            <a:r>
              <a:rPr dirty="0"/>
              <a:t> le </a:t>
            </a:r>
            <a:r>
              <a:rPr dirty="0" err="1"/>
              <a:t>texte</a:t>
            </a:r>
            <a:r>
              <a:rPr dirty="0"/>
              <a:t> avec le </a:t>
            </a:r>
            <a:r>
              <a:rPr dirty="0" err="1"/>
              <a:t>titre</a:t>
            </a:r>
            <a:r>
              <a:rPr dirty="0"/>
              <a:t>, le lieu, les mots-</a:t>
            </a:r>
            <a:r>
              <a:rPr dirty="0" err="1"/>
              <a:t>clés</a:t>
            </a:r>
            <a:r>
              <a:rPr dirty="0"/>
              <a:t> et les descriptions longues,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activer</a:t>
            </a:r>
            <a:r>
              <a:rPr dirty="0"/>
              <a:t> le chunking et </a:t>
            </a:r>
            <a:r>
              <a:rPr dirty="0" err="1"/>
              <a:t>dédupliquer</a:t>
            </a:r>
            <a:r>
              <a:rPr dirty="0"/>
              <a:t> les </a:t>
            </a:r>
            <a:r>
              <a:rPr dirty="0" err="1"/>
              <a:t>événements</a:t>
            </a:r>
            <a:r>
              <a:rPr dirty="0"/>
              <a:t>. Une recherche </a:t>
            </a:r>
            <a:r>
              <a:rPr dirty="0" err="1"/>
              <a:t>hybride</a:t>
            </a:r>
            <a:r>
              <a:rPr dirty="0"/>
              <a:t> </a:t>
            </a:r>
            <a:r>
              <a:rPr dirty="0" err="1"/>
              <a:t>aiderait</a:t>
            </a:r>
            <a:r>
              <a:rPr dirty="0"/>
              <a:t> pour les noms </a:t>
            </a:r>
            <a:r>
              <a:rPr dirty="0" err="1"/>
              <a:t>propres</a:t>
            </a:r>
            <a:r>
              <a:rPr dirty="0"/>
              <a:t>. La gestion </a:t>
            </a:r>
            <a:r>
              <a:rPr dirty="0" err="1"/>
              <a:t>temporelle</a:t>
            </a:r>
            <a:r>
              <a:rPr dirty="0"/>
              <a:t> </a:t>
            </a:r>
            <a:r>
              <a:rPr dirty="0" err="1"/>
              <a:t>nécessite</a:t>
            </a:r>
            <a:r>
              <a:rPr dirty="0"/>
              <a:t> un </a:t>
            </a:r>
            <a:r>
              <a:rPr dirty="0" err="1"/>
              <a:t>filtrage</a:t>
            </a:r>
            <a:r>
              <a:rPr dirty="0"/>
              <a:t> </a:t>
            </a:r>
            <a:r>
              <a:rPr dirty="0" err="1"/>
              <a:t>explicite</a:t>
            </a:r>
            <a:r>
              <a:rPr dirty="0"/>
              <a:t> et la date de </a:t>
            </a:r>
            <a:r>
              <a:rPr dirty="0" err="1"/>
              <a:t>référence</a:t>
            </a:r>
            <a:r>
              <a:rPr dirty="0"/>
              <a:t>. </a:t>
            </a:r>
            <a:r>
              <a:rPr dirty="0" err="1"/>
              <a:t>Étendre</a:t>
            </a:r>
            <a:r>
              <a:rPr dirty="0"/>
              <a:t> les annotations, </a:t>
            </a:r>
            <a:r>
              <a:rPr dirty="0" err="1"/>
              <a:t>contrôler</a:t>
            </a:r>
            <a:r>
              <a:rPr dirty="0"/>
              <a:t> </a:t>
            </a:r>
            <a:r>
              <a:rPr dirty="0" err="1"/>
              <a:t>leur</a:t>
            </a:r>
            <a:r>
              <a:rPr dirty="0"/>
              <a:t> exactitude et </a:t>
            </a:r>
            <a:r>
              <a:rPr dirty="0" err="1"/>
              <a:t>prévoir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mesure</a:t>
            </a:r>
            <a:r>
              <a:rPr dirty="0"/>
              <a:t> plus </a:t>
            </a:r>
            <a:r>
              <a:rPr dirty="0" err="1"/>
              <a:t>directe</a:t>
            </a:r>
            <a:r>
              <a:rPr dirty="0"/>
              <a:t> de la </a:t>
            </a:r>
            <a:r>
              <a:rPr dirty="0" err="1"/>
              <a:t>justesse</a:t>
            </a:r>
            <a:r>
              <a:rPr dirty="0"/>
              <a:t>. </a:t>
            </a:r>
            <a:r>
              <a:rPr dirty="0" err="1"/>
              <a:t>Automatiser</a:t>
            </a:r>
            <a:r>
              <a:rPr dirty="0"/>
              <a:t> ensuite la </a:t>
            </a:r>
            <a:r>
              <a:rPr dirty="0" err="1"/>
              <a:t>génération</a:t>
            </a:r>
            <a:r>
              <a:rPr dirty="0"/>
              <a:t> des </a:t>
            </a:r>
            <a:r>
              <a:rPr dirty="0" err="1"/>
              <a:t>prédictions</a:t>
            </a:r>
            <a:r>
              <a:rPr dirty="0"/>
              <a:t> et </a:t>
            </a:r>
            <a:r>
              <a:rPr dirty="0" err="1"/>
              <a:t>l’évaluation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cible</a:t>
            </a:r>
            <a:r>
              <a:rPr dirty="0"/>
              <a:t> : 40 </a:t>
            </a:r>
            <a:r>
              <a:rPr dirty="0" err="1"/>
              <a:t>secondes</a:t>
            </a:r>
            <a:r>
              <a:rPr dirty="0"/>
              <a:t>.</a:t>
            </a:r>
          </a:p>
          <a:p>
            <a:r>
              <a:rPr dirty="0" err="1"/>
              <a:t>Conclure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séparant</a:t>
            </a:r>
            <a:r>
              <a:rPr dirty="0"/>
              <a:t> </a:t>
            </a:r>
            <a:r>
              <a:rPr dirty="0" err="1"/>
              <a:t>faisabilité</a:t>
            </a:r>
            <a:r>
              <a:rPr dirty="0"/>
              <a:t> et </a:t>
            </a:r>
            <a:r>
              <a:rPr dirty="0" err="1"/>
              <a:t>qualité</a:t>
            </a:r>
            <a:r>
              <a:rPr dirty="0"/>
              <a:t> métier. L’API Docker et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ont</a:t>
            </a:r>
            <a:r>
              <a:rPr dirty="0"/>
              <a:t>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testés</a:t>
            </a:r>
            <a:r>
              <a:rPr dirty="0"/>
              <a:t> </a:t>
            </a:r>
            <a:r>
              <a:rPr dirty="0" err="1"/>
              <a:t>localement</a:t>
            </a:r>
            <a:r>
              <a:rPr dirty="0"/>
              <a:t> par le </a:t>
            </a:r>
            <a:r>
              <a:rPr dirty="0" err="1"/>
              <a:t>porteur</a:t>
            </a:r>
            <a:r>
              <a:rPr dirty="0"/>
              <a:t> de </a:t>
            </a:r>
            <a:r>
              <a:rPr dirty="0" err="1"/>
              <a:t>projet</a:t>
            </a:r>
            <a:r>
              <a:rPr dirty="0"/>
              <a:t>. Les </a:t>
            </a:r>
            <a:r>
              <a:rPr dirty="0" err="1"/>
              <a:t>résultats</a:t>
            </a:r>
            <a:r>
              <a:rPr dirty="0"/>
              <a:t> </a:t>
            </a:r>
            <a:r>
              <a:rPr dirty="0" err="1"/>
              <a:t>montrent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génération</a:t>
            </a:r>
            <a:r>
              <a:rPr dirty="0"/>
              <a:t> </a:t>
            </a:r>
            <a:r>
              <a:rPr dirty="0" err="1"/>
              <a:t>plutôt</a:t>
            </a:r>
            <a:r>
              <a:rPr dirty="0"/>
              <a:t> </a:t>
            </a:r>
            <a:r>
              <a:rPr dirty="0" err="1"/>
              <a:t>fidèle</a:t>
            </a:r>
            <a:r>
              <a:rPr dirty="0"/>
              <a:t> aux </a:t>
            </a:r>
            <a:r>
              <a:rPr dirty="0" err="1"/>
              <a:t>contextes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récupération</a:t>
            </a:r>
            <a:r>
              <a:rPr dirty="0"/>
              <a:t> </a:t>
            </a:r>
            <a:r>
              <a:rPr dirty="0" err="1"/>
              <a:t>incomplète</a:t>
            </a:r>
            <a:r>
              <a:rPr dirty="0"/>
              <a:t>. La </a:t>
            </a:r>
            <a:r>
              <a:rPr dirty="0" err="1"/>
              <a:t>prochaine</a:t>
            </a:r>
            <a:r>
              <a:rPr dirty="0"/>
              <a:t> </a:t>
            </a:r>
            <a:r>
              <a:rPr dirty="0" err="1"/>
              <a:t>itération</a:t>
            </a:r>
            <a:r>
              <a:rPr dirty="0"/>
              <a:t> doit </a:t>
            </a:r>
            <a:r>
              <a:rPr dirty="0" err="1"/>
              <a:t>améliorer</a:t>
            </a:r>
            <a:r>
              <a:rPr dirty="0"/>
              <a:t> </a:t>
            </a:r>
            <a:r>
              <a:rPr dirty="0" err="1"/>
              <a:t>cette</a:t>
            </a:r>
            <a:r>
              <a:rPr dirty="0"/>
              <a:t> </a:t>
            </a:r>
            <a:r>
              <a:rPr dirty="0" err="1"/>
              <a:t>récupération</a:t>
            </a:r>
            <a:r>
              <a:rPr dirty="0"/>
              <a:t> et </a:t>
            </a:r>
            <a:r>
              <a:rPr dirty="0" err="1"/>
              <a:t>mesurer</a:t>
            </a:r>
            <a:r>
              <a:rPr dirty="0"/>
              <a:t> les gains.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190FD5-BACB-4A3C-873E-BC777C7E3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DBED28-4E4D-4B8F-9AA4-53CDFF0AD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0511A5-1BBC-4FFF-A0FD-D6DBCFACE91A}"/>
              </a:ext>
            </a:extLst>
          </p:cNvPr>
          <p:cNvSpPr>
            <a:spLocks noGrp="1"/>
          </p:cNvSpPr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7112DA-F094-4083-98EC-D7986215AA64}"/>
              </a:ext>
            </a:extLst>
          </p:cNvPr>
          <p:cNvSpPr>
            <a:spLocks noGrp="1"/>
          </p:cNvSpPr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A3367-E0EA-403F-B01A-BC2FAD295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buNone/>
              <a:defRPr sz="5400"/>
            </a:lvl1pPr>
          </a:lstStyle>
          <a:p>
            <a:r>
              <a:t>Modifiez le style du titre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D80F0-40D3-4E0F-A5B8-15A30FCF6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Modifiez le style des sous-titres du masque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1C259-2F49-4E2B-8D51-5CD2BF50DE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44E96-CB9F-460E-A36C-D9A19E5C35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3D83F-77DD-41DD-BAAA-8CA7308F87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08E566-04DA-4037-B45D-94DFA918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73A884-385D-4683-A9EA-5F43C4288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A82738F-6C11-4CE2-BF5F-D4B83F82C30D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0140E2-7AF5-4A7A-A0D6-87981B03A3E6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FE646-9C26-4D31-B0E3-13978218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4570A-A9E7-4C5A-9D2E-2CC302B25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2C0F-959C-4653-AF03-CD66DCFC2E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A19DA-13A3-4482-ADBD-A69B2628A1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8A805-6724-4831-A60D-792D598A12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22F896-40B5-4ADD-8801-0D06FADFA095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BFDBAB-7478-4A93-8E6D-3A64614A3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76FCF8-7625-4000-B648-6C8EC7459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A1EEF7D-6680-41E3-B062-3CE10532B580}"/>
              </a:ext>
            </a:extLst>
          </p:cNvPr>
          <p:cNvSpPr>
            <a:spLocks noGrp="1"/>
          </p:cNvSpPr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3E86C-4197-469A-9642-EC7B2246ADE0}"/>
              </a:ext>
            </a:extLst>
          </p:cNvPr>
          <p:cNvSpPr>
            <a:spLocks noGrp="1"/>
          </p:cNvSpPr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DE053-3373-4A04-A091-4CDD0ABC1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buNone/>
              <a:defRPr sz="3600"/>
            </a:lvl1pPr>
          </a:lstStyle>
          <a:p>
            <a:r>
              <a:t>Modifiez le style du titre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BF88C-BFEC-4F77-9341-9DC83722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CD609-A975-4D27-9FEC-3A91BFFEEB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4EF9A-3666-4C29-B65D-627A697212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BDF7E-C18B-45AA-BFB9-457178C1420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AFC440-B91C-4A3A-BD3E-67488C2C8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9AB733-1283-4CF7-9C9D-0180F5D04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35F18E-BA89-49D7-8843-E70C5628443B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5998A4-C190-4FA9-AAF0-0F26DD73E296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6CB51-CCCF-4346-A08B-D38E5E68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9C4F8-74AA-4769-9CF6-1E5BA6BCF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DE801-AA53-4D82-8F44-5F02B138EBE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4B3CD-A630-457E-A588-A10D197DC4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F0645-7138-42CE-80DA-893A5E7837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42587-CF17-4C6B-BBE0-7D0BB52BF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82B277A-E1C9-DF4B-68C0-55E883243023}"/>
              </a:ext>
            </a:extLst>
          </p:cNvPr>
          <p:cNvSpPr>
            <a:spLocks noGrp="1"/>
          </p:cNvSpPr>
          <p:nvPr/>
        </p:nvSpPr>
        <p:spPr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DFFF4F-A17B-4FD7-ACBE-79280DEE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AE15E8-0E7B-4CE0-A16C-E69F11FAF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608902-B919-4A24-91B3-2E00398E16C6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5A7A2-49C3-4DAE-AE9B-217DC5A39BF6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DA8B3-38DC-4EC3-A371-A17DA295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95867-B0AF-4F00-98F9-48406F680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58928-53AE-401E-8C63-4AB5E829D75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73752-35BC-4A0F-B3C8-6354E4AAD7A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87A09-6FE8-4003-B1F9-3A00C3AF121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205CE3-E54C-43F5-BA6C-3C92319F12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C5C91-FFA9-497A-8DC3-3529F32B96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37AC42-6EDB-438C-84A9-1BBC21637D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4B03C7BF-47AD-8B50-B045-B545FB14FA3F}"/>
              </a:ext>
            </a:extLst>
          </p:cNvPr>
          <p:cNvSpPr>
            <a:spLocks noGrp="1"/>
          </p:cNvSpPr>
          <p:nvPr/>
        </p:nvSpPr>
        <p:spPr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F62FDF-34AB-48AC-B98F-6F070C56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86C71F-356E-449B-82DE-E4E0B6CDD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0A6571-8848-4E46-B58D-AA48C847E723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35F22-CA67-4369-AA0E-8BE3171163E6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3C7094-9423-471F-885C-AF93C309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70C46-D862-4A1F-B115-0B213693A6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D1567-B2C8-4F1C-B3BA-5FADDDF89C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C7B69-C688-4DB1-9261-6B1F4F9F6D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C07A5595-4F9E-9DFA-7B8E-BD1E75138E8E}"/>
              </a:ext>
            </a:extLst>
          </p:cNvPr>
          <p:cNvSpPr>
            <a:spLocks noGrp="1"/>
          </p:cNvSpPr>
          <p:nvPr/>
        </p:nvSpPr>
        <p:spPr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0FA7F2-8971-4E55-BF7B-C0720BE68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8D409E-B4DB-487D-A4E3-BD9C5EA35599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7EF3E-F785-43E1-932E-62F710674E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EF5D1-B3EE-476D-A2EA-47C268B615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8EB86-D811-4740-A63D-B1CD83C100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2A5EC09A-6B7F-F2F7-3A53-60B130660E87}"/>
              </a:ext>
            </a:extLst>
          </p:cNvPr>
          <p:cNvSpPr>
            <a:spLocks noGrp="1"/>
          </p:cNvSpPr>
          <p:nvPr/>
        </p:nvSpPr>
        <p:spPr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8EF2D56-559A-4A16-B066-A87CF27B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687963-6F7A-41EC-B69E-86BC0119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18ECF21-3221-4647-B5EF-3DF9877A06F9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85BF3B-C953-41D4-8BCB-1513CBE9A0FD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B6175-6C68-445A-A571-1D5A8FF50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t>Modifiez le style du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8F81C-AD6B-43B8-AB1E-CCF6B8DF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8F311-F93C-49CA-BF08-62F2D7BAA68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04DA8-3E9E-4D9F-BEB6-CE818A92E8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6D6AB-092C-4BF8-8F30-B61DF3F50C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090C9-0B4A-4A17-ACD6-65134938F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655F6EA-C86B-4DB7-A7EA-966F6B71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6D57FC-8518-4810-8039-65B22426C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6D3FC9-18AF-42E3-AA4F-5F0A97923683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036849-0E3B-4073-B9B4-0CEB2653B202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1A416-72C2-4583-BE5E-42954413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t>Modifiez le style du titre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BBC68-7FCB-4394-AFCE-FF04053B3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Cliquez sur l'icône pour ajouter une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18DCD-D3CA-4EA5-A4E4-A111DE07E8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3A12C-F5F3-43B5-85A0-D3097F0695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D938D-B9BC-403E-840D-6D2D7487F1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9D1C2-D7FE-4D11-8701-86373858C3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7203A3-B80E-43B2-AADC-8DCAE5259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810CD9-6F76-45CB-A7F3-7DCB54E8A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D4EF149-4BF0-42EA-AE2A-7C9F018B7792}"/>
              </a:ext>
            </a:extLst>
          </p:cNvPr>
          <p:cNvSpPr>
            <a:spLocks noGrp="1"/>
          </p:cNvSpPr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8EC547-F47D-49D3-90DB-691ADABB9C26}"/>
              </a:ext>
            </a:extLst>
          </p:cNvPr>
          <p:cNvSpPr>
            <a:spLocks noGrp="1"/>
          </p:cNvSpPr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8EA87-9233-41B3-81A3-4AF0DAA1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buNone/>
              <a:defRPr sz="2400"/>
            </a:lvl1pPr>
          </a:lstStyle>
          <a:p>
            <a:r>
              <a:t>Modifiez le style du titre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5CC04A-CE07-4C55-A16A-BEA9F8BCD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Cliquez sur l'icône pour ajouter une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04B02-6415-412A-AA2A-F52796F609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E6916-E5A1-48F7-918D-77EA85A4C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A336C-7AED-4E16-9A23-8E589FEADC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512FB-0404-4FF5-A8F9-B42EFDEDC8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D05E32-3183-4484-9F6F-32CD00C4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D660E9-39E4-4B7A-83D5-0643E287C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4A9B512-0672-40A8-B335-1A95AAC4F0E2}"/>
              </a:ext>
            </a:extLst>
          </p:cNvPr>
          <p:cNvSpPr>
            <a:spLocks noGrp="1"/>
          </p:cNvSpPr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82C754-9798-4811-85C5-4EBF96E7D493}"/>
              </a:ext>
            </a:extLst>
          </p:cNvPr>
          <p:cNvSpPr>
            <a:spLocks noGrp="1"/>
          </p:cNvSpPr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2BBFB-682C-49C0-AB48-B3667173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buNone/>
              <a:defRPr sz="3200"/>
            </a:lvl1pPr>
          </a:lstStyle>
          <a:p>
            <a:r>
              <a:t>Modifiez le style du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89940-E8A7-4277-AA6B-D0FB6FA799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9D4C7-55BB-49D5-94E2-9E4B027143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E6382-8156-4C29-B199-A0438BEA52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8F7E3-B161-4A7E-B1EA-4F24106E2F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5713F9-D55B-493B-821F-8C89F44D1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FE12A4-E5F9-462C-A2EB-1D32F4287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F50A3C-B6F1-48EE-9061-9291B1468339}"/>
              </a:ext>
            </a:extLst>
          </p:cNvPr>
          <p:cNvSpPr>
            <a:spLocks noGrp="1"/>
          </p:cNvSpPr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533AD1-289F-45CC-94B8-6F0BD316797D}"/>
              </a:ext>
            </a:extLst>
          </p:cNvPr>
          <p:cNvSpPr>
            <a:spLocks noGrp="1"/>
          </p:cNvSpPr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88CDE-7179-448B-96CD-5BB34304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buNone/>
              <a:defRPr sz="3200"/>
            </a:lvl1pPr>
          </a:lstStyle>
          <a:p>
            <a:r>
              <a:t>Modifiez le style du titre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E1A4FAE-EE46-4958-8DD3-3705A34C75A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86B53-3186-44DD-865B-609020E9E76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CC167-C9BD-4F31-9023-1D85927F89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1A275-99CC-49A9-AA87-F0B7B4223F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BB371-C6DE-448D-AD1E-49DB4CBA710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0D80A0-A465-4B1E-97D2-B56A7B25AF28}"/>
              </a:ext>
            </a:extLst>
          </p:cNvPr>
          <p:cNvSpPr>
            <a:spLocks noGrp="1"/>
          </p:cNvSpPr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>
            <a:pPr lvl="0">
              <a:buNone/>
            </a:pPr>
            <a:r>
              <a:rPr sz="72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3ED772-F37D-415E-B0A9-24F53506C8FE}"/>
              </a:ext>
            </a:extLst>
          </p:cNvPr>
          <p:cNvSpPr>
            <a:spLocks noGrp="1"/>
          </p:cNvSpPr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>
            <a:pPr lvl="0" algn="r">
              <a:buNone/>
            </a:pPr>
            <a:r>
              <a:rPr sz="7200">
                <a:solidFill>
                  <a:schemeClr val="tx1"/>
                </a:solidFill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3E1263-308C-4C7F-A5C3-EE0E1BBC9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D59AF0-A9ED-44FF-AAD3-03E623BF9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2CD4067-FD87-4F2E-A427-BC0B04209D27}"/>
              </a:ext>
            </a:extLst>
          </p:cNvPr>
          <p:cNvSpPr>
            <a:spLocks noGrp="1"/>
          </p:cNvSpPr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34C272-72DB-4921-B467-B726AD3E2010}"/>
              </a:ext>
            </a:extLst>
          </p:cNvPr>
          <p:cNvSpPr>
            <a:spLocks noGrp="1"/>
          </p:cNvSpPr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B87E1-D56C-479C-AB07-2DA4B6A9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Modifiez le style du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D0EDD-6254-44B2-83A6-3D4FEAE6BE6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81897-BB5D-454C-8D60-BB2696D460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92F5A-037C-4922-87B5-846C1C5797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6E06F-3A3F-44E4-A5C1-B4D47F7727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A89BF6A-7688-46F3-B0B2-D19D1FFFA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7D869F-659D-4893-9884-6FC39A423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F3AE90E-67DB-4032-917A-171EA77D9D61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85E428-AA69-4E28-BD8F-859F92921DB6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8EE83B9-78A5-4197-86EB-2F19189D8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t>Modifiez le style du titre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AFBFD10-E5D8-4F29-81ED-170A11994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7BB419F-F458-408C-9F8D-47993F6EC3D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D183CD2-B94F-41B1-A3C6-F4AAEE0236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49B19D7-0B15-4A86-A85E-E2035393F66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53CEA3E-7F5B-4131-ACA6-8744F0BD9E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011BA28-E862-4291-9DCB-DE73BB5FC7C6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A7116-FB0C-4101-BA80-D7B0411879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B1ADE-3D1B-46F1-AA82-E886D756EE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0C388-181E-40AB-AB8D-5F169B2591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D60880D-7DD1-4531-94C3-EA84796E0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5CBE68-2730-4A19-8DD4-F6A05914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365EE4A-CDF5-4536-8C7D-AE84C7B4022E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B60AD8-6877-4A6C-B89A-410905BA8578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B1B8442E-E30B-44B1-A412-0AE01B75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t>Modifiez le style du titre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EFB3187-D190-4777-A623-B22EC2C40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9F07DBE6-0530-44A6-A274-68CC06693D6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Cliquez sur l'icône pour ajouter une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DDFDD9D-4D0D-4DDC-946D-006E5653FD4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A0AD090-AB6D-46ED-9455-D8BE306A086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8071C8B1-2D18-459A-989B-4E3D3FBA2B2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Cliquez sur l'icône pour ajouter une image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52FDEDF-443C-44C1-A068-E0595F413C8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F9F2AF-386D-4910-A6FF-5247BB884B7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DEC0CB36-B591-409B-8334-DFC2443FB9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Cliquez sur l'icône pour ajouter une image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940CE6F-A307-492D-A1C7-505A2F6ED022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C6AD5-9071-4E4A-9D54-3472E42756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AF52E-A9CE-4E41-9A99-D90FE0F015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5ED0B-C17A-4048-9D59-327CCD49F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6F509B-7D4E-4D62-8B52-C959E7FF2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1247F0-896F-45DE-85F5-A43213C5D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2A4208-3B27-41D2-BFE2-61A6A7B2D45D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EDD7D-FCFB-4E4E-A83A-21A748C55540}"/>
              </a:ext>
            </a:extLst>
          </p:cNvPr>
          <p:cNvSpPr>
            <a:spLocks noGrp="1"/>
          </p:cNvSpPr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E94A7-8D82-4C6E-AC4E-BD442E4B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buNone/>
              <a:defRPr/>
            </a:lvl1pPr>
          </a:lstStyle>
          <a:p>
            <a:r>
              <a:t>Modifiez le style du titre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99029-D4E1-4944-B320-08B8EEC10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E7DDA-73D7-4C06-BAAC-B70305865B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60FB2-B3B9-4C3A-B276-C40C167EA7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E2D14-E6DA-4DB9-9DD7-90CF333D53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F3B93B-BEF4-4069-8DF6-BC342A7199AC}"/>
              </a:ext>
            </a:extLst>
          </p:cNvPr>
          <p:cNvSpPr>
            <a:spLocks noGrp="1"/>
          </p:cNvSpPr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15DED-B733-4445-8A88-41EE37D85710}"/>
              </a:ext>
            </a:extLst>
          </p:cNvPr>
          <p:cNvSpPr>
            <a:spLocks noGrp="1"/>
          </p:cNvSpPr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292DE-8490-40D3-A464-0AE1ADBF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t>Modifiez le style du titre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7D354-E521-4C32-A788-7DB2A645D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5ABAE-2A05-4E8B-8393-F7269D9ADCD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CF24E-C81D-4351-A6D0-BE0E1FD421D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437FB-85E3-4C6A-A53C-948B2CEB772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buNone/>
              <a:defRPr/>
            </a:lvl1pPr>
          </a:lstStyle>
          <a:p>
            <a:fld id="{DD68962E-EF79-4265-AC71-696A4F49210D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5433-C898-4B94-BEEB-7273A170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D3270-ED8A-46F0-87D1-1BE8ED82A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B27D-5911-4DD1-AD7F-DFE6617670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F0B33-DF5A-41E0-A069-9111AFE4B2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AEDF6-3377-4C73-9956-019005B9E770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CE744-0719-4743-83D6-E567497B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Modifiez le style du titre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83380-1071-4E4C-BAD4-8068A4EB6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D850-392C-4D5B-8FA0-DB7A78A5838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3894F-03A6-4760-8AFF-8C8908CB964C}" type="datetimeFigureOut">
              <a:t>10/22/2026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6F8E8-F35E-44FD-A932-9407211EA7C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DF277-E719-4510-A1AB-56B7738DB56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8962E-EF79-4265-AC71-696A4F49210D}" type="slidenum">
              <a:t>‹N°›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9415"/>
            </a:gs>
            <a:gs pos="48000">
              <a:srgbClr val="CE410C"/>
            </a:gs>
            <a:gs pos="100000">
              <a:srgbClr val="941800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-0">
            <a:extLst>
              <a:ext uri="{FF2B5EF4-FFF2-40B4-BE49-F238E27FC236}">
                <a16:creationId xmlns:a16="http://schemas.microsoft.com/office/drawing/2014/main" id="{760E1CAE-70B3-4DCB-B47C-DEBFBBD5D168}"/>
              </a:ext>
            </a:extLst>
          </p:cNvPr>
          <p:cNvSpPr>
            <a:spLocks noGrp="1"/>
          </p:cNvSpPr>
          <p:nvPr/>
        </p:nvSpPr>
        <p:spPr>
          <a:xfrm>
            <a:off x="457200" y="2800350"/>
            <a:ext cx="8334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52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52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52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Un assistant RAG</a:t>
            </a:r>
          </a:p>
          <a:p>
            <a:pPr>
              <a:defRPr sz="352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52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pour les événements de Toulouse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89736FC-7436-C48D-317E-C28D7794BF2D}"/>
              </a:ext>
            </a:extLst>
          </p:cNvPr>
          <p:cNvSpPr txBox="1"/>
          <p:nvPr/>
        </p:nvSpPr>
        <p:spPr>
          <a:xfrm>
            <a:off x="331305" y="2032784"/>
            <a:ext cx="104029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500" noProof="0" dirty="0">
                <a:latin typeface="Eras Light ITC" panose="020B0402030504020804" pitchFamily="34" charset="0"/>
              </a:rPr>
              <a:t>OC Projet 9 : Concevez et déployez un système RAG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013341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0E91C2AB-8FC4-DA8D-A29E-ACCB15E435FB}"/>
              </a:ext>
            </a:extLst>
          </p:cNvPr>
          <p:cNvSpPr txBox="1"/>
          <p:nvPr/>
        </p:nvSpPr>
        <p:spPr>
          <a:xfrm>
            <a:off x="171770" y="916024"/>
            <a:ext cx="5758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noProof="0" dirty="0">
                <a:latin typeface="Eras Demi ITC" panose="020B0805030504020804" pitchFamily="34" charset="0"/>
              </a:rPr>
              <a:t>Plan de la présentation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6DCB13D-B8CB-CC5D-4F28-3D5BFEDE488A}"/>
              </a:ext>
            </a:extLst>
          </p:cNvPr>
          <p:cNvGrpSpPr/>
          <p:nvPr/>
        </p:nvGrpSpPr>
        <p:grpSpPr>
          <a:xfrm>
            <a:off x="803098" y="2342826"/>
            <a:ext cx="11388901" cy="3749178"/>
            <a:chOff x="518893" y="2507925"/>
            <a:chExt cx="11388901" cy="4510698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C6B6A1D4-D551-6FD5-6DF1-83413D0C2D6B}"/>
                </a:ext>
              </a:extLst>
            </p:cNvPr>
            <p:cNvSpPr txBox="1"/>
            <p:nvPr/>
          </p:nvSpPr>
          <p:spPr>
            <a:xfrm>
              <a:off x="674169" y="2507925"/>
              <a:ext cx="11233625" cy="44598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571500">
                <a:lnSpc>
                  <a:spcPct val="150000"/>
                </a:lnSpc>
                <a:buAutoNum type="romanUcPeriod"/>
              </a:pPr>
              <a:r>
                <a:rPr lang="fr-FR" sz="3200" noProof="0" dirty="0">
                  <a:latin typeface="Eras Light ITC" panose="020B0402030504020804" pitchFamily="34" charset="0"/>
                </a:rPr>
                <a:t>Contexte métier, problématique et objectif du projet</a:t>
              </a:r>
            </a:p>
            <a:p>
              <a:pPr marL="571500" indent="-571500">
                <a:lnSpc>
                  <a:spcPct val="150000"/>
                </a:lnSpc>
                <a:buFontTx/>
                <a:buAutoNum type="romanUcPeriod"/>
              </a:pPr>
              <a:r>
                <a:rPr lang="fr-FR" sz="3200" dirty="0">
                  <a:latin typeface="Eras Light ITC" panose="020B0402030504020804" pitchFamily="34" charset="0"/>
                </a:rPr>
                <a:t>Architecture, données, modèle et démonstration de fonctionnalité</a:t>
              </a:r>
            </a:p>
            <a:p>
              <a:pPr marL="571500" indent="-571500">
                <a:lnSpc>
                  <a:spcPct val="150000"/>
                </a:lnSpc>
                <a:buFontTx/>
                <a:buAutoNum type="romanUcPeriod"/>
              </a:pPr>
              <a:r>
                <a:rPr lang="fr-FR" sz="3200" dirty="0">
                  <a:latin typeface="Eras Light ITC" panose="020B0402030504020804" pitchFamily="34" charset="0"/>
                </a:rPr>
                <a:t>Evaluation métier</a:t>
              </a:r>
            </a:p>
            <a:p>
              <a:pPr marL="571500" indent="-571500">
                <a:lnSpc>
                  <a:spcPct val="150000"/>
                </a:lnSpc>
                <a:buFontTx/>
                <a:buAutoNum type="romanUcPeriod"/>
              </a:pPr>
              <a:r>
                <a:rPr lang="fr-FR" sz="3200" dirty="0">
                  <a:latin typeface="Eras Light ITC" panose="020B0402030504020804" pitchFamily="34" charset="0"/>
                </a:rPr>
                <a:t>Perspectives d’amélioration et conclusion</a:t>
              </a:r>
            </a:p>
          </p:txBody>
        </p: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D57693ED-FC97-604C-54B1-73CD674F2D20}"/>
                </a:ext>
              </a:extLst>
            </p:cNvPr>
            <p:cNvGrpSpPr/>
            <p:nvPr/>
          </p:nvGrpSpPr>
          <p:grpSpPr>
            <a:xfrm>
              <a:off x="518893" y="2767915"/>
              <a:ext cx="7182895" cy="4250708"/>
              <a:chOff x="4252129" y="1444848"/>
              <a:chExt cx="7182895" cy="1381564"/>
            </a:xfrm>
          </p:grpSpPr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D09DB2F8-F85B-298D-6676-60C39C3E4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2129" y="1444848"/>
                <a:ext cx="0" cy="1381564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>
                <a:extLst>
                  <a:ext uri="{FF2B5EF4-FFF2-40B4-BE49-F238E27FC236}">
                    <a16:creationId xmlns:a16="http://schemas.microsoft.com/office/drawing/2014/main" id="{B1B023AC-2E4E-C3CB-C537-2EF36F52D2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2129" y="2826412"/>
                <a:ext cx="7182895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2609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DE25-09FD-075E-1427-2A0852878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55658353-A9AD-5564-FBF8-FA12640E8559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 dirty="0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Le </a:t>
            </a:r>
            <a:r>
              <a:rPr sz="3675" dirty="0" err="1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besoin</a:t>
            </a:r>
            <a:r>
              <a:rPr sz="3675" dirty="0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 </a:t>
            </a:r>
            <a:r>
              <a:rPr lang="fr-FR" sz="3675" dirty="0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client</a:t>
            </a:r>
            <a:endParaRPr sz="3675" dirty="0">
              <a:solidFill>
                <a:srgbClr val="FFFFFF"/>
              </a:solidFill>
              <a:latin typeface="Eras Demi ITC"/>
              <a:ea typeface="Eras Demi ITC"/>
              <a:cs typeface="Eras Demi ITC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834D6D8-CD2D-D669-6CE9-44A47BB1FBF2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301F0BD-3AD3-EE35-7FB9-1BB58947C525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Utilisateurs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4B518A5-7629-2EB3-79F5-2F15F88C468E}"/>
              </a:ext>
            </a:extLst>
          </p:cNvPr>
          <p:cNvSpPr>
            <a:spLocks noGrp="1"/>
          </p:cNvSpPr>
          <p:nvPr/>
        </p:nvSpPr>
        <p:spPr>
          <a:xfrm>
            <a:off x="3333750" y="223837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Trouver un événement à partir d’une question naturelle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5B59914-ADCF-0E4E-4F95-4EE869E2A5AA}"/>
              </a:ext>
            </a:extLst>
          </p:cNvPr>
          <p:cNvSpPr>
            <a:spLocks noGrp="1"/>
          </p:cNvSpPr>
          <p:nvPr/>
        </p:nvSpPr>
        <p:spPr>
          <a:xfrm>
            <a:off x="619125" y="3524250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 dirty="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Équipes métier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AF2B4014-11C0-916A-85AE-7029529C5920}"/>
              </a:ext>
            </a:extLst>
          </p:cNvPr>
          <p:cNvSpPr>
            <a:spLocks noGrp="1"/>
          </p:cNvSpPr>
          <p:nvPr/>
        </p:nvSpPr>
        <p:spPr>
          <a:xfrm>
            <a:off x="3333750" y="35242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Tester un chatbot via une API exploitable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16E9FA37-B0EA-E9D7-CFA7-550E787ABCF0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Objectif du POC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0C31A81-AC7D-C0E7-B449-50DB6A999FF4}"/>
              </a:ext>
            </a:extLst>
          </p:cNvPr>
          <p:cNvSpPr>
            <a:spLocks noGrp="1"/>
          </p:cNvSpPr>
          <p:nvPr/>
        </p:nvSpPr>
        <p:spPr>
          <a:xfrm>
            <a:off x="3333750" y="481012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Démontrer la faisabilité et mesurer la qualité des réponses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75C64E6-EF6B-3152-04A6-9F5EB3C03D71}"/>
              </a:ext>
            </a:extLst>
          </p:cNvPr>
          <p:cNvSpPr txBox="1"/>
          <p:nvPr/>
        </p:nvSpPr>
        <p:spPr>
          <a:xfrm>
            <a:off x="0" y="-161707"/>
            <a:ext cx="11171583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3200" noProof="0" dirty="0">
                <a:latin typeface="Eras Light ITC" panose="020B0402030504020804" pitchFamily="34" charset="0"/>
              </a:rPr>
              <a:t>Contexte métier, problématique et objectif du projet</a:t>
            </a:r>
          </a:p>
        </p:txBody>
      </p:sp>
    </p:spTree>
    <p:extLst>
      <p:ext uri="{BB962C8B-B14F-4D97-AF65-F5344CB8AC3E}">
        <p14:creationId xmlns:p14="http://schemas.microsoft.com/office/powerpoint/2010/main" val="97425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FFDA54F-B24F-4BF9-8553-14B5BFB8CD5F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4667250" y="3524250"/>
            <a:ext cx="0" cy="857250"/>
          </a:xfrm>
          <a:prstGeom prst="straightConnector1">
            <a:avLst/>
          </a:prstGeom>
          <a:ln w="28575">
            <a:solidFill>
              <a:srgbClr val="F09415"/>
            </a:solidFill>
            <a:prstDash val="solid"/>
            <a:tailEnd type="triangle" w="med" len="med"/>
          </a:ln>
        </p:spPr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5CAC2A4-6E2A-4FF3-91D0-DEDD73585BD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857875" y="3095625"/>
            <a:ext cx="571500" cy="0"/>
          </a:xfrm>
          <a:prstGeom prst="straightConnector1">
            <a:avLst/>
          </a:prstGeom>
          <a:ln w="28575">
            <a:solidFill>
              <a:srgbClr val="F09415"/>
            </a:solidFill>
            <a:prstDash val="solid"/>
            <a:tailEnd type="triangle" w="med" len="med"/>
          </a:ln>
        </p:spPr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07CB05EF-4F35-4164-ABAC-967716FC16D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952750" y="3095625"/>
            <a:ext cx="523875" cy="0"/>
          </a:xfrm>
          <a:prstGeom prst="straightConnector1">
            <a:avLst/>
          </a:prstGeom>
          <a:ln w="28575">
            <a:solidFill>
              <a:srgbClr val="F09415"/>
            </a:solidFill>
            <a:prstDash val="solid"/>
            <a:tailEnd type="triangle" w="med" len="med"/>
          </a:ln>
        </p:spPr>
      </p:cxnSp>
      <p:sp>
        <p:nvSpPr>
          <p:cNvPr id="11" name="text-0">
            <a:extLst>
              <a:ext uri="{FF2B5EF4-FFF2-40B4-BE49-F238E27FC236}">
                <a16:creationId xmlns:a16="http://schemas.microsoft.com/office/drawing/2014/main" id="{BEE7B9D1-E819-4387-B40B-CD265B64832B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Le principe du RAG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B0D740B-86BA-48B0-BEAB-77D1D2FE4B25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03</a:t>
            </a:r>
          </a:p>
        </p:txBody>
      </p:sp>
      <p:sp>
        <p:nvSpPr>
          <p:cNvPr id="3" name="Question utilisateur">
            <a:extLst>
              <a:ext uri="{FF2B5EF4-FFF2-40B4-BE49-F238E27FC236}">
                <a16:creationId xmlns:a16="http://schemas.microsoft.com/office/drawing/2014/main" id="{B234C7BD-1A04-4F7B-848A-9174D56C596C}"/>
              </a:ext>
            </a:extLst>
          </p:cNvPr>
          <p:cNvSpPr>
            <a:spLocks noGrp="1"/>
          </p:cNvSpPr>
          <p:nvPr/>
        </p:nvSpPr>
        <p:spPr>
          <a:xfrm>
            <a:off x="571500" y="2667000"/>
            <a:ext cx="2381250" cy="8572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Question utilisateur</a:t>
            </a:r>
          </a:p>
        </p:txBody>
      </p:sp>
      <p:sp>
        <p:nvSpPr>
          <p:cNvPr id="4" name="Recherche des&#10;5 événements">
            <a:extLst>
              <a:ext uri="{FF2B5EF4-FFF2-40B4-BE49-F238E27FC236}">
                <a16:creationId xmlns:a16="http://schemas.microsoft.com/office/drawing/2014/main" id="{40F31D4E-F778-42DF-9C69-D2037DF1B1DE}"/>
              </a:ext>
            </a:extLst>
          </p:cNvPr>
          <p:cNvSpPr>
            <a:spLocks noGrp="1"/>
          </p:cNvSpPr>
          <p:nvPr/>
        </p:nvSpPr>
        <p:spPr>
          <a:xfrm>
            <a:off x="3476625" y="2667000"/>
            <a:ext cx="2381250" cy="8572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Recherche des</a:t>
            </a:r>
          </a:p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5 événements</a:t>
            </a:r>
          </a:p>
        </p:txBody>
      </p:sp>
      <p:sp>
        <p:nvSpPr>
          <p:cNvPr id="5" name="Réponse avec&#10;GPT-4o-mini">
            <a:extLst>
              <a:ext uri="{FF2B5EF4-FFF2-40B4-BE49-F238E27FC236}">
                <a16:creationId xmlns:a16="http://schemas.microsoft.com/office/drawing/2014/main" id="{60873A80-9AA3-4401-8CB3-BE32E144E9D6}"/>
              </a:ext>
            </a:extLst>
          </p:cNvPr>
          <p:cNvSpPr>
            <a:spLocks noGrp="1"/>
          </p:cNvSpPr>
          <p:nvPr/>
        </p:nvSpPr>
        <p:spPr>
          <a:xfrm>
            <a:off x="6429375" y="2667000"/>
            <a:ext cx="2381250" cy="8572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Réponse avec</a:t>
            </a:r>
          </a:p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GPT-4o-mini</a:t>
            </a:r>
          </a:p>
        </p:txBody>
      </p:sp>
      <p:sp>
        <p:nvSpPr>
          <p:cNvPr id="8" name="Open Agenda&#10;Index FAISS">
            <a:extLst>
              <a:ext uri="{FF2B5EF4-FFF2-40B4-BE49-F238E27FC236}">
                <a16:creationId xmlns:a16="http://schemas.microsoft.com/office/drawing/2014/main" id="{A1659C80-9844-4474-A205-E30F3571C694}"/>
              </a:ext>
            </a:extLst>
          </p:cNvPr>
          <p:cNvSpPr>
            <a:spLocks noGrp="1"/>
          </p:cNvSpPr>
          <p:nvPr/>
        </p:nvSpPr>
        <p:spPr>
          <a:xfrm>
            <a:off x="3476625" y="4381500"/>
            <a:ext cx="2381250" cy="8572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Open Agenda</a:t>
            </a:r>
          </a:p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Index FAISS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1F3DEB5-183D-45F6-B99D-7A2ED240EF12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7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47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47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Le modèle répond à partir des informations retrouvées.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4407D63-7C89-B9C3-5BDB-DBCFC1957855}"/>
              </a:ext>
            </a:extLst>
          </p:cNvPr>
          <p:cNvSpPr txBox="1"/>
          <p:nvPr/>
        </p:nvSpPr>
        <p:spPr>
          <a:xfrm>
            <a:off x="119268" y="-175995"/>
            <a:ext cx="12284765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2"/>
            </a:pPr>
            <a:r>
              <a:rPr lang="fr-FR" sz="3200" dirty="0">
                <a:latin typeface="Eras Light ITC" panose="020B0402030504020804" pitchFamily="34" charset="0"/>
              </a:rPr>
              <a:t>Architecture, données, modèle et démonstration de fonctionnalité</a:t>
            </a:r>
          </a:p>
        </p:txBody>
      </p:sp>
    </p:spTree>
    <p:extLst>
      <p:ext uri="{BB962C8B-B14F-4D97-AF65-F5344CB8AC3E}">
        <p14:creationId xmlns:p14="http://schemas.microsoft.com/office/powerpoint/2010/main" val="1917826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CD1A59E7-2A3F-4D8E-9947-CE7A42C216B5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Les données Open Agenda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A6F619D-8924-42CF-8E9C-78F98AB57CC6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E8CAC13-BBFE-42E8-B8C6-3C2913FE7E40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4286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8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58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58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4 903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65C7502-9A22-421A-97CD-5205A33F0021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457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événements indexés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4AA2FD9-5F2B-43BD-9839-FE084D86BF35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500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4500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4500" dirty="0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Toulouse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1A525FC-F15A-46C0-ACDB-D354EF81DFDE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523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Export CSV 2025–2026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AD31DA7-7B01-4B67-872B-459C7A6E9A72}"/>
              </a:ext>
            </a:extLst>
          </p:cNvPr>
          <p:cNvSpPr>
            <a:spLocks noGrp="1"/>
          </p:cNvSpPr>
          <p:nvPr/>
        </p:nvSpPr>
        <p:spPr>
          <a:xfrm>
            <a:off x="619125" y="4429125"/>
            <a:ext cx="1066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7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Titre</a:t>
            </a:r>
            <a:r>
              <a:rPr sz="27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, descriptions, dates, </a:t>
            </a:r>
            <a:r>
              <a:rPr sz="27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lieux</a:t>
            </a:r>
            <a:r>
              <a:rPr sz="27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et liens</a:t>
            </a:r>
          </a:p>
          <a:p>
            <a:pPr>
              <a:def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7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57 </a:t>
            </a:r>
            <a:r>
              <a:rPr sz="27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colonnes</a:t>
            </a:r>
            <a:r>
              <a:rPr sz="27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métier </a:t>
            </a:r>
            <a:r>
              <a:rPr sz="27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conservées</a:t>
            </a:r>
            <a:r>
              <a:rPr sz="27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dans les </a:t>
            </a:r>
            <a:r>
              <a:rPr sz="27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métadonnées</a:t>
            </a:r>
            <a:endParaRPr sz="270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959E06E5-3791-4BB7-A431-FA0F8E82BA74}"/>
              </a:ext>
            </a:extLst>
          </p:cNvPr>
          <p:cNvSpPr>
            <a:spLocks noGrp="1"/>
          </p:cNvSpPr>
          <p:nvPr/>
        </p:nvSpPr>
        <p:spPr>
          <a:xfrm>
            <a:off x="619125" y="590550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187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187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Limite</a:t>
            </a:r>
            <a:r>
              <a:rPr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</a:t>
            </a:r>
            <a:r>
              <a:rPr sz="187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actuelle</a:t>
            </a:r>
            <a:r>
              <a:rPr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: </a:t>
            </a:r>
            <a:r>
              <a:rPr sz="187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aucune</a:t>
            </a:r>
            <a:r>
              <a:rPr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</a:t>
            </a:r>
            <a:r>
              <a:rPr sz="187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actualisation</a:t>
            </a:r>
            <a:r>
              <a:rPr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</a:t>
            </a:r>
            <a:r>
              <a:rPr lang="fr-FR"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ou </a:t>
            </a:r>
            <a:r>
              <a:rPr sz="187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filtre</a:t>
            </a:r>
            <a:r>
              <a:rPr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de date </a:t>
            </a:r>
            <a:r>
              <a:rPr lang="fr-FR"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automatique </a:t>
            </a:r>
            <a:r>
              <a:rPr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à la recherche</a:t>
            </a:r>
            <a:r>
              <a:rPr lang="fr-FR" sz="187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, export manuel uniquement</a:t>
            </a:r>
            <a:endParaRPr sz="1875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3B05F42-6483-2BEA-4317-7BE7ED19F9A0}"/>
              </a:ext>
            </a:extLst>
          </p:cNvPr>
          <p:cNvSpPr txBox="1"/>
          <p:nvPr/>
        </p:nvSpPr>
        <p:spPr>
          <a:xfrm>
            <a:off x="119268" y="-175995"/>
            <a:ext cx="12284765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2"/>
            </a:pPr>
            <a:r>
              <a:rPr lang="fr-FR" sz="3200" dirty="0">
                <a:latin typeface="Eras Light ITC" panose="020B0402030504020804" pitchFamily="34" charset="0"/>
              </a:rPr>
              <a:t>Architecture, données, modèle et démonstration de fonctionnalité</a:t>
            </a:r>
          </a:p>
        </p:txBody>
      </p:sp>
    </p:spTree>
    <p:extLst>
      <p:ext uri="{BB962C8B-B14F-4D97-AF65-F5344CB8AC3E}">
        <p14:creationId xmlns:p14="http://schemas.microsoft.com/office/powerpoint/2010/main" val="34743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C1C75F68-CD91-4C64-93FC-B061EBA0A04F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Préparation et indexation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999B543-8ACA-4AE9-8DAE-103E40AE4817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37ED242D-59DE-4054-A584-9D3C7B3EE775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Nettoyage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2990744-DC39-4BCF-884F-58792C21E990}"/>
              </a:ext>
            </a:extLst>
          </p:cNvPr>
          <p:cNvSpPr>
            <a:spLocks noGrp="1"/>
          </p:cNvSpPr>
          <p:nvPr/>
        </p:nvSpPr>
        <p:spPr>
          <a:xfrm>
            <a:off x="3333750" y="214312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Descriptions manquantes ou inutilisables écartées, texte normalisé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90C7D98-D212-439A-8AEC-8F4675811ADE}"/>
              </a:ext>
            </a:extLst>
          </p:cNvPr>
          <p:cNvSpPr>
            <a:spLocks noGrp="1"/>
          </p:cNvSpPr>
          <p:nvPr/>
        </p:nvSpPr>
        <p:spPr>
          <a:xfrm>
            <a:off x="619125" y="338137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Vectorisation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0D4FBD81-4D7C-4BB7-BCC2-38BF017F3819}"/>
              </a:ext>
            </a:extLst>
          </p:cNvPr>
          <p:cNvSpPr>
            <a:spLocks noGrp="1"/>
          </p:cNvSpPr>
          <p:nvPr/>
        </p:nvSpPr>
        <p:spPr>
          <a:xfrm>
            <a:off x="3333750" y="338137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text-embedding-3-small, 1 536 dimensions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5756A7D-B6D5-427F-BB2B-C40F6D1BD6D7}"/>
              </a:ext>
            </a:extLst>
          </p:cNvPr>
          <p:cNvSpPr>
            <a:spLocks noGrp="1"/>
          </p:cNvSpPr>
          <p:nvPr/>
        </p:nvSpPr>
        <p:spPr>
          <a:xfrm>
            <a:off x="619125" y="452437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Persistance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3BA6160-959B-4B22-9379-54BCBFBF02C0}"/>
              </a:ext>
            </a:extLst>
          </p:cNvPr>
          <p:cNvSpPr>
            <a:spLocks noGrp="1"/>
          </p:cNvSpPr>
          <p:nvPr/>
        </p:nvSpPr>
        <p:spPr>
          <a:xfrm>
            <a:off x="3333750" y="452437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Index FAISS et métadonnées CSV reliés par l’UID de l’événement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5A0FC8E-735F-4015-BCD0-4FD48AF1B27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19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19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Seule</a:t>
            </a:r>
            <a:r>
              <a:rPr sz="19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la description </a:t>
            </a:r>
            <a:r>
              <a:rPr sz="19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courte</a:t>
            </a:r>
            <a:r>
              <a:rPr sz="19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est </a:t>
            </a:r>
            <a:r>
              <a:rPr sz="19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vectorisée</a:t>
            </a:r>
            <a:r>
              <a:rPr sz="19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. Le chunking </a:t>
            </a:r>
            <a:r>
              <a:rPr sz="19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reste</a:t>
            </a:r>
            <a:r>
              <a:rPr sz="19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</a:t>
            </a:r>
            <a:r>
              <a:rPr sz="19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inactif</a:t>
            </a:r>
            <a:r>
              <a:rPr lang="fr-FR" sz="19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parce que les entrées font moins de 200 caractères.</a:t>
            </a:r>
            <a:endParaRPr sz="195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D62DD12-FC2A-D84D-8A9F-03F6BF20AAF6}"/>
              </a:ext>
            </a:extLst>
          </p:cNvPr>
          <p:cNvSpPr txBox="1"/>
          <p:nvPr/>
        </p:nvSpPr>
        <p:spPr>
          <a:xfrm>
            <a:off x="119268" y="-175995"/>
            <a:ext cx="12284765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2"/>
            </a:pPr>
            <a:r>
              <a:rPr lang="fr-FR" sz="3200" dirty="0">
                <a:latin typeface="Eras Light ITC" panose="020B0402030504020804" pitchFamily="34" charset="0"/>
              </a:rPr>
              <a:t>Architecture, données, modèle et démonstration de fonctionnalité</a:t>
            </a:r>
          </a:p>
        </p:txBody>
      </p:sp>
    </p:spTree>
    <p:extLst>
      <p:ext uri="{BB962C8B-B14F-4D97-AF65-F5344CB8AC3E}">
        <p14:creationId xmlns:p14="http://schemas.microsoft.com/office/powerpoint/2010/main" val="1790119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A274E11E-DD68-4D9D-A1FD-B020317001E6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Modèles et règles de réponse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24EADB8-6E90-4A1D-AA44-F9E6AFBBC553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07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D49A964-A209-4596-B38D-9FEE26DD579F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Embeddings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A6771F0-9DE6-4630-9C20-0CA82BB3543E}"/>
              </a:ext>
            </a:extLst>
          </p:cNvPr>
          <p:cNvSpPr>
            <a:spLocks noGrp="1"/>
          </p:cNvSpPr>
          <p:nvPr/>
        </p:nvSpPr>
        <p:spPr>
          <a:xfrm>
            <a:off x="3333750" y="214312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text-embedding-3-small pour la question et les descriptions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5B580FD-2C0A-4040-9100-292C9DE586D5}"/>
              </a:ext>
            </a:extLst>
          </p:cNvPr>
          <p:cNvSpPr>
            <a:spLocks noGrp="1"/>
          </p:cNvSpPr>
          <p:nvPr/>
        </p:nvSpPr>
        <p:spPr>
          <a:xfrm>
            <a:off x="619125" y="3333750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Génération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C898430-D49D-4613-BA2D-B63B8E89E46A}"/>
              </a:ext>
            </a:extLst>
          </p:cNvPr>
          <p:cNvSpPr>
            <a:spLocks noGrp="1"/>
          </p:cNvSpPr>
          <p:nvPr/>
        </p:nvSpPr>
        <p:spPr>
          <a:xfrm>
            <a:off x="3333750" y="3333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GPT-4o-mini via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LangChain</a:t>
            </a:r>
            <a:endParaRPr sz="255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26BCB126-A0C1-4523-A862-EFC684B0EF88}"/>
              </a:ext>
            </a:extLst>
          </p:cNvPr>
          <p:cNvSpPr>
            <a:spLocks noGrp="1"/>
          </p:cNvSpPr>
          <p:nvPr/>
        </p:nvSpPr>
        <p:spPr>
          <a:xfrm>
            <a:off x="619125" y="452437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Prompt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9D7FE6CD-DEE0-4A8D-A760-EAB57CDC901B}"/>
              </a:ext>
            </a:extLst>
          </p:cNvPr>
          <p:cNvSpPr>
            <a:spLocks noGrp="1"/>
          </p:cNvSpPr>
          <p:nvPr/>
        </p:nvSpPr>
        <p:spPr>
          <a:xfrm>
            <a:off x="3333750" y="452437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Utiliser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le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contexte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, demander des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précisions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, signaler les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informations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absentes</a:t>
            </a:r>
            <a:endParaRPr sz="255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5CEA3443-A67F-4881-91C4-36BE2AAA95B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66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Historique limité à cinq messages récents.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EA86741-9E1E-0C1C-B9C5-F19F47D88953}"/>
              </a:ext>
            </a:extLst>
          </p:cNvPr>
          <p:cNvSpPr txBox="1"/>
          <p:nvPr/>
        </p:nvSpPr>
        <p:spPr>
          <a:xfrm>
            <a:off x="119268" y="-175995"/>
            <a:ext cx="12284765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2"/>
            </a:pPr>
            <a:r>
              <a:rPr lang="fr-FR" sz="3200" dirty="0">
                <a:latin typeface="Eras Light ITC" panose="020B0402030504020804" pitchFamily="34" charset="0"/>
              </a:rPr>
              <a:t>Architecture, données, modèle et démonstration de fonctionnalité</a:t>
            </a:r>
          </a:p>
        </p:txBody>
      </p:sp>
    </p:spTree>
    <p:extLst>
      <p:ext uri="{BB962C8B-B14F-4D97-AF65-F5344CB8AC3E}">
        <p14:creationId xmlns:p14="http://schemas.microsoft.com/office/powerpoint/2010/main" val="75493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EC79087-6EA4-459E-A69D-A484C0C2C401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3381375" y="4905375"/>
            <a:ext cx="857250" cy="0"/>
          </a:xfrm>
          <a:prstGeom prst="straightConnector1">
            <a:avLst/>
          </a:prstGeom>
          <a:ln w="28575">
            <a:solidFill>
              <a:srgbClr val="F09415"/>
            </a:solidFill>
            <a:prstDash val="solid"/>
            <a:tailEnd type="triangle" w="med" len="med"/>
          </a:ln>
        </p:spPr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E745ED51-F1EA-456B-9D18-425FEA1FA809}"/>
              </a:ext>
            </a:extLst>
          </p:cNvPr>
          <p:cNvCxnSpPr>
            <a:stCxn id="6" idx="0"/>
            <a:endCxn id="4" idx="2"/>
          </p:cNvCxnSpPr>
          <p:nvPr/>
        </p:nvCxnSpPr>
        <p:spPr>
          <a:xfrm flipV="1">
            <a:off x="5905500" y="3333750"/>
            <a:ext cx="0" cy="1143000"/>
          </a:xfrm>
          <a:prstGeom prst="straightConnector1">
            <a:avLst/>
          </a:prstGeom>
          <a:ln w="28575">
            <a:solidFill>
              <a:srgbClr val="F09415"/>
            </a:solidFill>
            <a:prstDash val="solid"/>
            <a:tailEnd type="triangle" w="med" len="med"/>
          </a:ln>
        </p:spPr>
      </p:cxnSp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44C23126-840C-4B60-AF71-E7B08C2F8E8F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7572375" y="2905125"/>
            <a:ext cx="2595563" cy="476250"/>
          </a:xfrm>
          <a:prstGeom prst="bentConnector2">
            <a:avLst/>
          </a:prstGeom>
          <a:ln w="28575">
            <a:solidFill>
              <a:srgbClr val="F09415"/>
            </a:solidFill>
            <a:prstDash val="solid"/>
            <a:tailEnd type="triangle" w="med" len="med"/>
          </a:ln>
        </p:spPr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422FE64-04C3-44B2-893F-DC4B0963FC0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381375" y="2905125"/>
            <a:ext cx="857250" cy="0"/>
          </a:xfrm>
          <a:prstGeom prst="straightConnector1">
            <a:avLst/>
          </a:prstGeom>
          <a:ln w="28575">
            <a:solidFill>
              <a:srgbClr val="F09415"/>
            </a:solidFill>
            <a:prstDash val="solid"/>
            <a:tailEnd type="triangle" w="med" len="med"/>
          </a:ln>
        </p:spPr>
      </p:cxnSp>
      <p:sp>
        <p:nvSpPr>
          <p:cNvPr id="13" name="text-0">
            <a:extLst>
              <a:ext uri="{FF2B5EF4-FFF2-40B4-BE49-F238E27FC236}">
                <a16:creationId xmlns:a16="http://schemas.microsoft.com/office/drawing/2014/main" id="{416845EC-8DA1-4547-97FD-C8A16484697D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Architecture de la version actuelle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4058973-D550-4DB4-A36F-24BB503103AE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06</a:t>
            </a:r>
          </a:p>
        </p:txBody>
      </p:sp>
      <p:sp>
        <p:nvSpPr>
          <p:cNvPr id="3" name="Swagger / client HTTP">
            <a:extLst>
              <a:ext uri="{FF2B5EF4-FFF2-40B4-BE49-F238E27FC236}">
                <a16:creationId xmlns:a16="http://schemas.microsoft.com/office/drawing/2014/main" id="{E082685D-C725-4ACE-81D6-C46ECF560840}"/>
              </a:ext>
            </a:extLst>
          </p:cNvPr>
          <p:cNvSpPr>
            <a:spLocks noGrp="1"/>
          </p:cNvSpPr>
          <p:nvPr/>
        </p:nvSpPr>
        <p:spPr>
          <a:xfrm>
            <a:off x="428625" y="2476500"/>
            <a:ext cx="2952750" cy="8572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Swagger / </a:t>
            </a:r>
            <a:r>
              <a:rPr lang="fr-FR"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requête</a:t>
            </a: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HTTP</a:t>
            </a:r>
          </a:p>
        </p:txBody>
      </p:sp>
      <p:sp>
        <p:nvSpPr>
          <p:cNvPr id="4" name="Docker&#10;FastAPI et chaîne RAG">
            <a:extLst>
              <a:ext uri="{FF2B5EF4-FFF2-40B4-BE49-F238E27FC236}">
                <a16:creationId xmlns:a16="http://schemas.microsoft.com/office/drawing/2014/main" id="{B780575E-3EE5-4AE4-BFBD-2B86218DE4B3}"/>
              </a:ext>
            </a:extLst>
          </p:cNvPr>
          <p:cNvSpPr>
            <a:spLocks noGrp="1"/>
          </p:cNvSpPr>
          <p:nvPr/>
        </p:nvSpPr>
        <p:spPr>
          <a:xfrm>
            <a:off x="4238625" y="2476500"/>
            <a:ext cx="3333750" cy="8572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Docker</a:t>
            </a:r>
          </a:p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FastAPI</a:t>
            </a: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et </a:t>
            </a:r>
            <a:r>
              <a:rPr sz="202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chaîne</a:t>
            </a: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RAG</a:t>
            </a:r>
          </a:p>
        </p:txBody>
      </p:sp>
      <p:sp>
        <p:nvSpPr>
          <p:cNvPr id="5" name="OpenAI&#10;Embeddings et LLM">
            <a:extLst>
              <a:ext uri="{FF2B5EF4-FFF2-40B4-BE49-F238E27FC236}">
                <a16:creationId xmlns:a16="http://schemas.microsoft.com/office/drawing/2014/main" id="{0CADADBF-9101-44F5-9B07-B5EDFB33E355}"/>
              </a:ext>
            </a:extLst>
          </p:cNvPr>
          <p:cNvSpPr>
            <a:spLocks noGrp="1"/>
          </p:cNvSpPr>
          <p:nvPr/>
        </p:nvSpPr>
        <p:spPr>
          <a:xfrm>
            <a:off x="8667750" y="3381375"/>
            <a:ext cx="3000375" cy="10477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OpenAI</a:t>
            </a:r>
          </a:p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Embeddings et LLM</a:t>
            </a:r>
          </a:p>
        </p:txBody>
      </p:sp>
      <p:sp>
        <p:nvSpPr>
          <p:cNvPr id="6" name="Index FAISS&#10;Métadonnées CSV">
            <a:extLst>
              <a:ext uri="{FF2B5EF4-FFF2-40B4-BE49-F238E27FC236}">
                <a16:creationId xmlns:a16="http://schemas.microsoft.com/office/drawing/2014/main" id="{57A22A68-8584-4218-9D27-3B8D5F252C52}"/>
              </a:ext>
            </a:extLst>
          </p:cNvPr>
          <p:cNvSpPr>
            <a:spLocks noGrp="1"/>
          </p:cNvSpPr>
          <p:nvPr/>
        </p:nvSpPr>
        <p:spPr>
          <a:xfrm>
            <a:off x="4238625" y="4476750"/>
            <a:ext cx="3333750" cy="8572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Index FAISS</a:t>
            </a:r>
          </a:p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Métadonnées</a:t>
            </a: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CSV</a:t>
            </a:r>
          </a:p>
        </p:txBody>
      </p:sp>
      <p:sp>
        <p:nvSpPr>
          <p:cNvPr id="7" name="Streamlit&#10;Chaîne RAG directe">
            <a:extLst>
              <a:ext uri="{FF2B5EF4-FFF2-40B4-BE49-F238E27FC236}">
                <a16:creationId xmlns:a16="http://schemas.microsoft.com/office/drawing/2014/main" id="{4BFB0D8D-3965-4D0B-A347-88D6A8AF809F}"/>
              </a:ext>
            </a:extLst>
          </p:cNvPr>
          <p:cNvSpPr>
            <a:spLocks noGrp="1"/>
          </p:cNvSpPr>
          <p:nvPr/>
        </p:nvSpPr>
        <p:spPr>
          <a:xfrm>
            <a:off x="428625" y="4476750"/>
            <a:ext cx="2952750" cy="857250"/>
          </a:xfrm>
          <a:prstGeom prst="rect">
            <a:avLst/>
          </a:prstGeom>
          <a:solidFill>
            <a:srgbClr val="292725"/>
          </a:solidFill>
          <a:ln w="19050">
            <a:solidFill>
              <a:srgbClr val="F09415"/>
            </a:solidFill>
            <a:prstDash val="solid"/>
          </a:ln>
        </p:spPr>
        <p:txBody>
          <a:bodyPr lIns="95250" tIns="95250" rIns="95250" bIns="95250" anchor="ctr"/>
          <a:lstStyle>
            <a:def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Streamlit</a:t>
            </a:r>
            <a:endParaRPr sz="2025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  <a:p>
            <a:pPr algn="ctr"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Chaîne RAG </a:t>
            </a:r>
            <a:r>
              <a:rPr sz="2025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directe</a:t>
            </a:r>
            <a:endParaRPr sz="2025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DD0DAB1-47F7-426E-B3C5-23E822BDF1D2}"/>
              </a:ext>
            </a:extLst>
          </p:cNvPr>
          <p:cNvSpPr>
            <a:spLocks noGrp="1"/>
          </p:cNvSpPr>
          <p:nvPr/>
        </p:nvSpPr>
        <p:spPr>
          <a:xfrm>
            <a:off x="428625" y="5953125"/>
            <a:ext cx="11334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Streamlit appelle aussi OpenAI directement, sans passer par FastAPI.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B6EE040-82CA-D92B-0F4D-5346C879D6C5}"/>
              </a:ext>
            </a:extLst>
          </p:cNvPr>
          <p:cNvSpPr txBox="1"/>
          <p:nvPr/>
        </p:nvSpPr>
        <p:spPr>
          <a:xfrm>
            <a:off x="119268" y="-175995"/>
            <a:ext cx="12284765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2"/>
            </a:pPr>
            <a:r>
              <a:rPr lang="fr-FR" sz="3200" dirty="0">
                <a:latin typeface="Eras Light ITC" panose="020B0402030504020804" pitchFamily="34" charset="0"/>
              </a:rPr>
              <a:t>Architecture, données, modèle et démonstration de fonctionnalité</a:t>
            </a:r>
          </a:p>
        </p:txBody>
      </p:sp>
    </p:spTree>
    <p:extLst>
      <p:ext uri="{BB962C8B-B14F-4D97-AF65-F5344CB8AC3E}">
        <p14:creationId xmlns:p14="http://schemas.microsoft.com/office/powerpoint/2010/main" val="52662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34858-2B1F-69B1-1602-317C58E33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1ED04C95-FB94-7C61-13AE-98E8E0D56A14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lang="fr-FR" sz="3675" dirty="0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Démonstration du fonctionnement de l’API</a:t>
            </a:r>
            <a:endParaRPr sz="3675" dirty="0">
              <a:solidFill>
                <a:srgbClr val="FFFFFF"/>
              </a:solidFill>
              <a:latin typeface="Eras Demi ITC"/>
              <a:ea typeface="Eras Demi ITC"/>
              <a:cs typeface="Eras Demi ITC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372A50A-5C4B-B411-E359-07F4236DFC17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06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3B62492-9BE0-7528-4D47-962938790C3A}"/>
              </a:ext>
            </a:extLst>
          </p:cNvPr>
          <p:cNvSpPr txBox="1"/>
          <p:nvPr/>
        </p:nvSpPr>
        <p:spPr>
          <a:xfrm>
            <a:off x="119268" y="-175995"/>
            <a:ext cx="12284765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2"/>
            </a:pPr>
            <a:r>
              <a:rPr lang="fr-FR" sz="3200" dirty="0">
                <a:latin typeface="Eras Light ITC" panose="020B0402030504020804" pitchFamily="34" charset="0"/>
              </a:rPr>
              <a:t>Architecture, données, modèle et démonstration de fonctionnalité</a:t>
            </a:r>
          </a:p>
        </p:txBody>
      </p:sp>
      <p:sp>
        <p:nvSpPr>
          <p:cNvPr id="17" name="text-2">
            <a:extLst>
              <a:ext uri="{FF2B5EF4-FFF2-40B4-BE49-F238E27FC236}">
                <a16:creationId xmlns:a16="http://schemas.microsoft.com/office/drawing/2014/main" id="{17E7204F-25B5-227C-4D9F-FB6F1DAD4184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 dirty="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POST /ask/</a:t>
            </a:r>
          </a:p>
        </p:txBody>
      </p:sp>
      <p:sp>
        <p:nvSpPr>
          <p:cNvPr id="19" name="text-3">
            <a:extLst>
              <a:ext uri="{FF2B5EF4-FFF2-40B4-BE49-F238E27FC236}">
                <a16:creationId xmlns:a16="http://schemas.microsoft.com/office/drawing/2014/main" id="{10E53A9A-6370-AADC-1346-F33B48DD598E}"/>
              </a:ext>
            </a:extLst>
          </p:cNvPr>
          <p:cNvSpPr>
            <a:spLocks noGrp="1"/>
          </p:cNvSpPr>
          <p:nvPr/>
        </p:nvSpPr>
        <p:spPr>
          <a:xfrm>
            <a:off x="3333750" y="223837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Question et historique optionnel, réponse de l’assistant</a:t>
            </a:r>
          </a:p>
        </p:txBody>
      </p:sp>
      <p:sp>
        <p:nvSpPr>
          <p:cNvPr id="21" name="text-4">
            <a:extLst>
              <a:ext uri="{FF2B5EF4-FFF2-40B4-BE49-F238E27FC236}">
                <a16:creationId xmlns:a16="http://schemas.microsoft.com/office/drawing/2014/main" id="{50014BDA-8237-71A0-F33A-82D90593E365}"/>
              </a:ext>
            </a:extLst>
          </p:cNvPr>
          <p:cNvSpPr>
            <a:spLocks noGrp="1"/>
          </p:cNvSpPr>
          <p:nvPr/>
        </p:nvSpPr>
        <p:spPr>
          <a:xfrm>
            <a:off x="619125" y="3524250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GET /rebuild/</a:t>
            </a:r>
          </a:p>
        </p:txBody>
      </p:sp>
      <p:sp>
        <p:nvSpPr>
          <p:cNvPr id="23" name="text-5">
            <a:extLst>
              <a:ext uri="{FF2B5EF4-FFF2-40B4-BE49-F238E27FC236}">
                <a16:creationId xmlns:a16="http://schemas.microsoft.com/office/drawing/2014/main" id="{5D6A25DF-9CA0-BD39-3068-73AAE9183F7E}"/>
              </a:ext>
            </a:extLst>
          </p:cNvPr>
          <p:cNvSpPr>
            <a:spLocks noGrp="1"/>
          </p:cNvSpPr>
          <p:nvPr/>
        </p:nvSpPr>
        <p:spPr>
          <a:xfrm>
            <a:off x="3333750" y="35242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Reconstruction de l’index et rechargement en mémoire</a:t>
            </a:r>
          </a:p>
        </p:txBody>
      </p:sp>
      <p:sp>
        <p:nvSpPr>
          <p:cNvPr id="25" name="text-6">
            <a:extLst>
              <a:ext uri="{FF2B5EF4-FFF2-40B4-BE49-F238E27FC236}">
                <a16:creationId xmlns:a16="http://schemas.microsoft.com/office/drawing/2014/main" id="{580E8CEA-2D3C-270A-F99F-DBD337BC2A39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Docker local</a:t>
            </a:r>
          </a:p>
        </p:txBody>
      </p:sp>
      <p:sp>
        <p:nvSpPr>
          <p:cNvPr id="27" name="text-7">
            <a:extLst>
              <a:ext uri="{FF2B5EF4-FFF2-40B4-BE49-F238E27FC236}">
                <a16:creationId xmlns:a16="http://schemas.microsoft.com/office/drawing/2014/main" id="{E46ABD6C-877A-A6F7-9406-D6C09133503F}"/>
              </a:ext>
            </a:extLst>
          </p:cNvPr>
          <p:cNvSpPr>
            <a:spLocks noGrp="1"/>
          </p:cNvSpPr>
          <p:nvPr/>
        </p:nvSpPr>
        <p:spPr>
          <a:xfrm>
            <a:off x="3333750" y="481012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API sur le port 7860, documentation interactive sur /docs</a:t>
            </a:r>
          </a:p>
        </p:txBody>
      </p:sp>
    </p:spTree>
    <p:extLst>
      <p:ext uri="{BB962C8B-B14F-4D97-AF65-F5344CB8AC3E}">
        <p14:creationId xmlns:p14="http://schemas.microsoft.com/office/powerpoint/2010/main" val="257811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8CFA21E0-66A2-4606-81C0-4CD478E4CFE3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Tests techniques et évaluation métier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D0A7C53-AB25-4CDC-A663-A6963FCD5EAA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10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C1F402-C430-474F-915D-E5C3A10DDBFA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0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0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3000" dirty="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Tests techniques</a:t>
            </a:r>
            <a:r>
              <a:rPr lang="fr-FR" sz="3000" dirty="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 </a:t>
            </a:r>
            <a:r>
              <a:rPr lang="fr-FR" sz="3000" dirty="0" err="1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pytest</a:t>
            </a:r>
            <a:endParaRPr sz="3000" dirty="0">
              <a:solidFill>
                <a:srgbClr val="F09415"/>
              </a:solidFill>
              <a:latin typeface="Eras Demi ITC"/>
              <a:ea typeface="Eras Demi ITC"/>
              <a:cs typeface="Eras Demi ITC"/>
            </a:endParaRP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50BE03A8-B356-4AD3-B494-53A5E2022B4C}"/>
              </a:ext>
            </a:extLst>
          </p:cNvPr>
          <p:cNvSpPr>
            <a:spLocks noGrp="1"/>
          </p:cNvSpPr>
          <p:nvPr/>
        </p:nvSpPr>
        <p:spPr>
          <a:xfrm>
            <a:off x="619125" y="3190875"/>
            <a:ext cx="5095875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4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4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Nettoyage</a:t>
            </a:r>
            <a:r>
              <a:rPr sz="24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et indexation</a:t>
            </a:r>
          </a:p>
          <a:p>
            <a:pPr>
              <a:defRPr sz="24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4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Recherche et construction du prompt</a:t>
            </a:r>
          </a:p>
          <a:p>
            <a:pPr>
              <a:defRPr sz="24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4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Routes API et gestion des </a:t>
            </a:r>
            <a:r>
              <a:rPr sz="24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erreurs</a:t>
            </a:r>
            <a:endParaRPr sz="240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728BDC3-86C9-4F20-8408-12C3B1AAA5CD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0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0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3000" dirty="0" err="1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Évaluation</a:t>
            </a:r>
            <a:r>
              <a:rPr sz="3000" dirty="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 Ragas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F838233-2C9C-48BB-9B4F-57BF9EE0AF21}"/>
              </a:ext>
            </a:extLst>
          </p:cNvPr>
          <p:cNvSpPr>
            <a:spLocks noGrp="1"/>
          </p:cNvSpPr>
          <p:nvPr/>
        </p:nvSpPr>
        <p:spPr>
          <a:xfrm>
            <a:off x="6477000" y="3190875"/>
            <a:ext cx="49530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4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4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7 questions </a:t>
            </a:r>
            <a:r>
              <a:rPr sz="24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annotées</a:t>
            </a:r>
            <a:endParaRPr sz="240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  <a:p>
            <a:pPr>
              <a:defRPr sz="24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4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Réponses</a:t>
            </a:r>
            <a:r>
              <a:rPr sz="24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et </a:t>
            </a:r>
            <a:r>
              <a:rPr sz="24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contextes</a:t>
            </a:r>
            <a:r>
              <a:rPr sz="24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enregistrés</a:t>
            </a:r>
            <a:endParaRPr sz="240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  <a:p>
            <a:pPr>
              <a:defRPr sz="24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40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Juge GPT-4o-mini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ED45394-2D45-4D23-9943-E39E4569CEED}"/>
              </a:ext>
            </a:extLst>
          </p:cNvPr>
          <p:cNvSpPr>
            <a:spLocks noGrp="1"/>
          </p:cNvSpPr>
          <p:nvPr/>
        </p:nvSpPr>
        <p:spPr>
          <a:xfrm>
            <a:off x="619125" y="59055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0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CI : Ruff et pytest, seuil de couverture configuré à 90 %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8855511-08D2-23CD-224E-CF222BE03988}"/>
              </a:ext>
            </a:extLst>
          </p:cNvPr>
          <p:cNvSpPr txBox="1"/>
          <p:nvPr/>
        </p:nvSpPr>
        <p:spPr>
          <a:xfrm>
            <a:off x="278296" y="-104557"/>
            <a:ext cx="6096000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3"/>
            </a:pPr>
            <a:r>
              <a:rPr lang="fr-FR" sz="3200" dirty="0">
                <a:latin typeface="Eras Light ITC" panose="020B0402030504020804" pitchFamily="34" charset="0"/>
              </a:rPr>
              <a:t>Evaluation métier</a:t>
            </a:r>
          </a:p>
        </p:txBody>
      </p:sp>
    </p:spTree>
    <p:extLst>
      <p:ext uri="{BB962C8B-B14F-4D97-AF65-F5344CB8AC3E}">
        <p14:creationId xmlns:p14="http://schemas.microsoft.com/office/powerpoint/2010/main" val="203872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957F30D0-5A13-4F35-BD28-BDD221D94566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Résultats Ragas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C8B32F1-C534-447B-8DF6-73C619625F32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11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E703FA2A-1388-4BFB-B7AE-C4E6111C7584}"/>
              </a:ext>
            </a:extLst>
          </p:cNvPr>
          <p:cNvGraphicFramePr/>
          <p:nvPr/>
        </p:nvGraphicFramePr>
        <p:xfrm>
          <a:off x="619125" y="2190750"/>
          <a:ext cx="7239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-2">
            <a:extLst>
              <a:ext uri="{FF2B5EF4-FFF2-40B4-BE49-F238E27FC236}">
                <a16:creationId xmlns:a16="http://schemas.microsoft.com/office/drawing/2014/main" id="{F9BBB546-09B4-4900-B081-2200167C0C94}"/>
              </a:ext>
            </a:extLst>
          </p:cNvPr>
          <p:cNvSpPr>
            <a:spLocks noGrp="1"/>
          </p:cNvSpPr>
          <p:nvPr/>
        </p:nvSpPr>
        <p:spPr>
          <a:xfrm>
            <a:off x="8572500" y="2667000"/>
            <a:ext cx="295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57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57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570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3 / 7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1252012C-A604-4114-834A-5C4593950453}"/>
              </a:ext>
            </a:extLst>
          </p:cNvPr>
          <p:cNvSpPr>
            <a:spLocks noGrp="1"/>
          </p:cNvSpPr>
          <p:nvPr/>
        </p:nvSpPr>
        <p:spPr>
          <a:xfrm>
            <a:off x="8572500" y="3762375"/>
            <a:ext cx="2952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réponses acceptables</a:t>
            </a:r>
          </a:p>
          <a:p>
            <a: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sur cet échantillon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277AC276-ACFB-4412-BD9D-45A24EDC6CEA}"/>
              </a:ext>
            </a:extLst>
          </p:cNvPr>
          <p:cNvSpPr>
            <a:spLocks noGrp="1"/>
          </p:cNvSpPr>
          <p:nvPr/>
        </p:nvSpPr>
        <p:spPr>
          <a:xfrm>
            <a:off x="619125" y="5715000"/>
            <a:ext cx="1085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19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19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Critère : fidélité ≥ 0,70 et pertinence ≥ 0,70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1896823D-A49C-49AA-A69F-457175E7E107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1085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18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18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Échantillon exploratoire de 7 questions, résultats du 12 octobre 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31CB647-23F6-E315-1392-BCC93F40CD5D}"/>
              </a:ext>
            </a:extLst>
          </p:cNvPr>
          <p:cNvSpPr txBox="1"/>
          <p:nvPr/>
        </p:nvSpPr>
        <p:spPr>
          <a:xfrm>
            <a:off x="278296" y="-104557"/>
            <a:ext cx="6096000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3"/>
            </a:pPr>
            <a:r>
              <a:rPr lang="fr-FR" sz="3200" dirty="0">
                <a:latin typeface="Eras Light ITC" panose="020B0402030504020804" pitchFamily="34" charset="0"/>
              </a:rPr>
              <a:t>Evaluation métier</a:t>
            </a:r>
          </a:p>
        </p:txBody>
      </p:sp>
    </p:spTree>
    <p:extLst>
      <p:ext uri="{BB962C8B-B14F-4D97-AF65-F5344CB8AC3E}">
        <p14:creationId xmlns:p14="http://schemas.microsoft.com/office/powerpoint/2010/main" val="14678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51DE2407-AD2B-4328-894A-5F693279EA5B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Deux cas qui éclairent les résultats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1D74988-AE58-480A-B51E-C8F83AB4697C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12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CF5B59B8-5A67-4662-A8F3-C53177923A55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5143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0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0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300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KIWI à Borderouge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B910E9F-C4F8-4AD4-93E1-F3E580535859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514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« Jeudi 25 septembre 2025,</a:t>
            </a:r>
          </a:p>
          <a:p>
            <a:pPr>
              <a:def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de 9 h à 12 h »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9E94EAE-8A46-4366-A608-5ECE8B37969C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5143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Événement retrouvé</a:t>
            </a:r>
          </a:p>
          <a:p>
            <a: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Fidélité : 1,00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F8A24F3-D949-4021-9255-3496FE4A9660}"/>
              </a:ext>
            </a:extLst>
          </p:cNvPr>
          <p:cNvSpPr>
            <a:spLocks noGrp="1"/>
          </p:cNvSpPr>
          <p:nvPr/>
        </p:nvSpPr>
        <p:spPr>
          <a:xfrm>
            <a:off x="6429375" y="2286000"/>
            <a:ext cx="5143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8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8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Rendez-vous agence YES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9572CCF-ACC2-4A0C-B69F-37DF1FA399CE}"/>
              </a:ext>
            </a:extLst>
          </p:cNvPr>
          <p:cNvSpPr>
            <a:spLocks noGrp="1"/>
          </p:cNvSpPr>
          <p:nvPr/>
        </p:nvSpPr>
        <p:spPr>
          <a:xfrm>
            <a:off x="6429375" y="3286125"/>
            <a:ext cx="514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6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6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6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« Je n’ai pas d’informations</a:t>
            </a:r>
          </a:p>
          <a:p>
            <a:pPr>
              <a:defRPr sz="26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625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concernant un rendez-vous… »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C255914-1947-482B-B38C-D2EA4FB8A29D}"/>
              </a:ext>
            </a:extLst>
          </p:cNvPr>
          <p:cNvSpPr>
            <a:spLocks noGrp="1"/>
          </p:cNvSpPr>
          <p:nvPr/>
        </p:nvSpPr>
        <p:spPr>
          <a:xfrm>
            <a:off x="6429375" y="4905375"/>
            <a:ext cx="5143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Cible absente du contexte récupéré</a:t>
            </a:r>
          </a:p>
          <a:p>
            <a:pPr>
              <a:def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2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Pertinence : 0,00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5C7E16C-D4B2-1264-B60A-4FE9533BD07E}"/>
              </a:ext>
            </a:extLst>
          </p:cNvPr>
          <p:cNvSpPr txBox="1"/>
          <p:nvPr/>
        </p:nvSpPr>
        <p:spPr>
          <a:xfrm>
            <a:off x="278296" y="-104557"/>
            <a:ext cx="6096000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3"/>
            </a:pPr>
            <a:r>
              <a:rPr lang="fr-FR" sz="3200" dirty="0">
                <a:latin typeface="Eras Light ITC" panose="020B0402030504020804" pitchFamily="34" charset="0"/>
              </a:rPr>
              <a:t>Evaluation métier</a:t>
            </a:r>
          </a:p>
        </p:txBody>
      </p:sp>
    </p:spTree>
    <p:extLst>
      <p:ext uri="{BB962C8B-B14F-4D97-AF65-F5344CB8AC3E}">
        <p14:creationId xmlns:p14="http://schemas.microsoft.com/office/powerpoint/2010/main" val="1588021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66D374AE-E030-4DAD-8E74-88F98D08FCBB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Priorités d’amélioration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BE3D052-D216-444F-B084-90DAEB059A92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13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BB6F12EE-4600-47AA-85F9-E78CAE901647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1. Recherche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9325480-72B7-4F53-BF21-487DEE94C023}"/>
              </a:ext>
            </a:extLst>
          </p:cNvPr>
          <p:cNvSpPr>
            <a:spLocks noGrp="1"/>
          </p:cNvSpPr>
          <p:nvPr/>
        </p:nvSpPr>
        <p:spPr>
          <a:xfrm>
            <a:off x="3333750" y="214312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Enrichir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le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texte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vectorisé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et combiner recherche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sémantique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et mots-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clés</a:t>
            </a:r>
            <a:endParaRPr sz="255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C8C7740-574B-4BC9-B5E6-6BE23F8918A6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2. Actualité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AE900264-021C-4F0A-9641-B48B18475280}"/>
              </a:ext>
            </a:extLst>
          </p:cNvPr>
          <p:cNvSpPr>
            <a:spLocks noGrp="1"/>
          </p:cNvSpPr>
          <p:nvPr/>
        </p:nvSpPr>
        <p:spPr>
          <a:xfrm>
            <a:off x="3333750" y="347662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Actualiser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les données et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filtrer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les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événements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par date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04C0FA3-8930-4DFA-9A08-636815D985CA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55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2550" dirty="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3. </a:t>
            </a:r>
            <a:r>
              <a:rPr sz="2550" dirty="0" err="1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Évaluation</a:t>
            </a:r>
            <a:endParaRPr sz="2550" dirty="0">
              <a:solidFill>
                <a:srgbClr val="F09415"/>
              </a:solidFill>
              <a:latin typeface="Eras Demi ITC"/>
              <a:ea typeface="Eras Demi ITC"/>
              <a:cs typeface="Eras Demi ITC"/>
            </a:endParaRP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8600ED1B-589B-4A45-B462-14D25AFE9039}"/>
              </a:ext>
            </a:extLst>
          </p:cNvPr>
          <p:cNvSpPr>
            <a:spLocks noGrp="1"/>
          </p:cNvSpPr>
          <p:nvPr/>
        </p:nvSpPr>
        <p:spPr>
          <a:xfrm>
            <a:off x="3333750" y="481012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5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Élargir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le jeu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annoté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et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automatiser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les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mesures</a:t>
            </a:r>
            <a:r>
              <a:rPr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de </a:t>
            </a:r>
            <a:r>
              <a:rPr sz="2550" dirty="0" err="1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qualité</a:t>
            </a:r>
            <a:r>
              <a:rPr lang="fr-FR" sz="2550" dirty="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 via le CI pour un suivi des régressions.</a:t>
            </a:r>
            <a:endParaRPr sz="2550" dirty="0">
              <a:solidFill>
                <a:srgbClr val="FFFFFF"/>
              </a:solidFill>
              <a:latin typeface="Eras Light ITC"/>
              <a:ea typeface="Eras Light ITC"/>
              <a:cs typeface="Eras Light ITC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87760E4-4CE8-0001-58B8-E84B0482E6B9}"/>
              </a:ext>
            </a:extLst>
          </p:cNvPr>
          <p:cNvSpPr txBox="1"/>
          <p:nvPr/>
        </p:nvSpPr>
        <p:spPr>
          <a:xfrm>
            <a:off x="278296" y="-104557"/>
            <a:ext cx="6096000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 startAt="3"/>
            </a:pPr>
            <a:r>
              <a:rPr lang="fr-FR" sz="3200" dirty="0">
                <a:latin typeface="Eras Light ITC" panose="020B0402030504020804" pitchFamily="34" charset="0"/>
              </a:rPr>
              <a:t>Evaluation métier</a:t>
            </a:r>
          </a:p>
        </p:txBody>
      </p:sp>
    </p:spTree>
    <p:extLst>
      <p:ext uri="{BB962C8B-B14F-4D97-AF65-F5344CB8AC3E}">
        <p14:creationId xmlns:p14="http://schemas.microsoft.com/office/powerpoint/2010/main" val="120022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F2C0D"/>
            </a:gs>
            <a:gs pos="50000">
              <a:srgbClr val="361710"/>
            </a:gs>
            <a:gs pos="100000">
              <a:srgbClr val="171514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DC7F1D69-A14B-4361-9820-EEFFD125CC13}"/>
              </a:ext>
            </a:extLst>
          </p:cNvPr>
          <p:cNvSpPr>
            <a:spLocks noGrp="1"/>
          </p:cNvSpPr>
          <p:nvPr/>
        </p:nvSpPr>
        <p:spPr>
          <a:xfrm>
            <a:off x="381000" y="790575"/>
            <a:ext cx="976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defRPr>
            </a:pPr>
            <a:r>
              <a:rPr sz="3675">
                <a:solidFill>
                  <a:srgbClr val="FFFFFF"/>
                </a:solidFill>
                <a:latin typeface="Eras Demi ITC"/>
                <a:ea typeface="Eras Demi ITC"/>
                <a:cs typeface="Eras Demi ITC"/>
              </a:rPr>
              <a:t>Bilan du POC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45C8428-D195-4EF7-9502-D1BCB3E5587C}"/>
              </a:ext>
            </a:extLst>
          </p:cNvPr>
          <p:cNvSpPr>
            <a:spLocks noGrp="1"/>
          </p:cNvSpPr>
          <p:nvPr/>
        </p:nvSpPr>
        <p:spPr>
          <a:xfrm>
            <a:off x="10953750" y="981075"/>
            <a:ext cx="90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defRPr>
            </a:pPr>
            <a:r>
              <a:rPr sz="2400">
                <a:solidFill>
                  <a:srgbClr val="272727"/>
                </a:solidFill>
                <a:latin typeface="Eras Demi ITC"/>
                <a:ea typeface="Eras Demi ITC"/>
                <a:cs typeface="Eras Demi ITC"/>
              </a:rPr>
              <a:t>14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264BA87-4EDE-44C8-A1C3-63EEA7303529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10810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defPPr>
          </a:lstStyle>
          <a:p>
            <a:pPr>
              <a:defRPr sz="3300">
                <a:solidFill>
                  <a:srgbClr val="F09415"/>
                </a:solidFill>
                <a:latin typeface="Eras Demi ITC"/>
                <a:ea typeface="Eras Demi ITC"/>
                <a:cs typeface="Eras Demi ITC"/>
              </a:defRPr>
            </a:pPr>
            <a:r>
              <a:rPr sz="3300">
                <a:solidFill>
                  <a:srgbClr val="F09415"/>
                </a:solidFill>
                <a:latin typeface="Eras Demi ITC"/>
                <a:ea typeface="Eras Demi ITC"/>
                <a:cs typeface="Eras Demi ITC"/>
              </a:rPr>
              <a:t>Une chaîne RAG complète et démontrable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0C16120-C714-4E93-AD6C-397503277E04}"/>
              </a:ext>
            </a:extLst>
          </p:cNvPr>
          <p:cNvSpPr>
            <a:spLocks noGrp="1"/>
          </p:cNvSpPr>
          <p:nvPr/>
        </p:nvSpPr>
        <p:spPr>
          <a:xfrm>
            <a:off x="619125" y="3381375"/>
            <a:ext cx="10763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70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API conteneurisée, interface de chat et évaluation documentée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06C107C-52E0-483B-90FF-AD04E41FD55B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1076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defPPr>
          </a:lstStyle>
          <a:p>
            <a:pPr>
              <a:def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Le principal levier : retrouver les bons événements</a:t>
            </a:r>
          </a:p>
          <a:p>
            <a:pPr>
              <a:def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defRPr>
            </a:pPr>
            <a:r>
              <a:rPr sz="2850">
                <a:solidFill>
                  <a:srgbClr val="FFFFFF"/>
                </a:solidFill>
                <a:latin typeface="Eras Light ITC"/>
                <a:ea typeface="Eras Light ITC"/>
                <a:cs typeface="Eras Light ITC"/>
              </a:rPr>
              <a:t>avant de demander au modèle de répondre</a:t>
            </a:r>
          </a:p>
        </p:txBody>
      </p:sp>
    </p:spTree>
    <p:extLst>
      <p:ext uri="{BB962C8B-B14F-4D97-AF65-F5344CB8AC3E}">
        <p14:creationId xmlns:p14="http://schemas.microsoft.com/office/powerpoint/2010/main" val="131929066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  <a:satMod val="100000"/>
              </a:schemeClr>
            </a:gs>
            <a:gs pos="100000">
              <a:schemeClr val="phClr">
                <a:tint val="70000"/>
                <a:lumMod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lumMod val="128000"/>
                <a:satMod val="200000"/>
              </a:schemeClr>
            </a:gs>
            <a:gs pos="50000">
              <a:schemeClr val="phClr">
                <a:shade val="100000"/>
                <a:lumMod val="130000"/>
                <a:satMod val="110000"/>
              </a:schemeClr>
            </a:gs>
            <a:gs pos="100000">
              <a:schemeClr val="phClr">
                <a:shade val="78000"/>
                <a:lumMod val="69000"/>
                <a:satMod val="200000"/>
              </a:schemeClr>
            </a:gs>
          </a:gsLst>
          <a:lin ang="252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  <a:satMod val="100000"/>
              </a:schemeClr>
            </a:gs>
            <a:gs pos="100000">
              <a:schemeClr val="phClr">
                <a:tint val="70000"/>
                <a:lumMod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lumMod val="128000"/>
                <a:satMod val="200000"/>
              </a:schemeClr>
            </a:gs>
            <a:gs pos="50000">
              <a:schemeClr val="phClr">
                <a:shade val="100000"/>
                <a:lumMod val="130000"/>
                <a:satMod val="110000"/>
              </a:schemeClr>
            </a:gs>
            <a:gs pos="100000">
              <a:schemeClr val="phClr">
                <a:shade val="78000"/>
                <a:lumMod val="69000"/>
                <a:satMod val="200000"/>
              </a:schemeClr>
            </a:gs>
          </a:gsLst>
          <a:lin ang="252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1634</Words>
  <Application>Microsoft Office PowerPoint</Application>
  <DocSecurity>0</DocSecurity>
  <PresentationFormat>Grand écran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Eras Demi ITC</vt:lpstr>
      <vt:lpstr>Eras Light ITC</vt:lpstr>
      <vt:lpstr>Trebuchet MS</vt:lpstr>
      <vt:lpstr>Berlin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Julien Poitreau</cp:lastModifiedBy>
  <cp:revision>2</cp:revision>
  <dcterms:created xsi:type="dcterms:W3CDTF">2026-10-15T09:23:51Z</dcterms:created>
  <dcterms:modified xsi:type="dcterms:W3CDTF">2026-10-22T06:31:33Z</dcterms:modified>
</cp:coreProperties>
</file>